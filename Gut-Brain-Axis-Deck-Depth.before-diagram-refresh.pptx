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A8431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389120" cy="4389120"/>
          </a:xfrm>
          <a:prstGeom prst="ellipse">
            <a:avLst/>
          </a:prstGeom>
          <a:solidFill>
            <a:srgbClr val="1F565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YOUR INSIDES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Gut–Brain Axis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microbes in your belly hold a lifelong, two-way conversation with your brain — shaping mood, cravings, health, and even the choices you make.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260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Sam &amp; family  ·  presentable + depth edition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organs, one constant conversation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centuries we treated the gut as plumbing. We now know it is one of the most heavily wired, chemically chatty organs in the body — and most of that wiring reports UP to the brain.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cities </a:t>
            </a:r>
            <a:pPr indent="0" marL="0">
              <a:lnSpc>
                <a:spcPct val="110000"/>
              </a:lnSpc>
              <a:buNone/>
            </a:pPr>
            <a:r>
              <a:rPr lang="en-US" sz="1900" b="1" i="1" dirty="0">
                <a:solidFill>
                  <a:srgbClr val="A84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joined by a highway, a postal service, and a private phone line</a:t>
            </a:r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all running at once, both directions.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0" y="2286000"/>
            <a:ext cx="1737360" cy="1737360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418320" y="3291840"/>
            <a:ext cx="1737360" cy="1737360"/>
          </a:xfrm>
          <a:prstGeom prst="ellipse">
            <a:avLst/>
          </a:prstGeom>
          <a:solidFill>
            <a:srgbClr val="E3EFEE"/>
          </a:solidFill>
          <a:ln w="25400">
            <a:solidFill>
              <a:srgbClr val="1F5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32918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3154680"/>
            <a:ext cx="822960" cy="960120"/>
          </a:xfrm>
          <a:prstGeom prst="line">
            <a:avLst/>
          </a:prstGeom>
          <a:noFill/>
          <a:ln w="63500">
            <a:solidFill>
              <a:srgbClr val="2F7D77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58368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· post · phone 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gut earns the nickname 'second brain'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line the gut — more than the spinal cord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3672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816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1960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body's serotonin is made in the gut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2480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1624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trillion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0768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microbes — a chemical factory &amp; second organ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~80% of the vagus nerve carries signals UP, from gut to brain.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basics — the five ideas everything hangs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chemicals run the show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is the brake (inhibits neurons); glutamate is the accelerator (excites them). Almost every effect here is one pressing on the other.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= 'I want that'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the reward circuit. Food, sugar, alcohol, nicotine all push it. The GLP-1 drugs turn it down.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circuit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 → nucleus accumbens (mesolimbic dopamine). VTA dopamine neurons have a GABA 'brake' sitting on them — the whole GLP-1 story.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walled brain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blood–brain barrier seals the brain off — except a few leaky 'windows' (CVOs) where drugs like semaglutide sneak 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brain: the enteric nervous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200–600 million neurons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the gut — more than the spinal cord — in two plexuses: the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myenteric (Auerbach's)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motility; the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submucosal (Meissner's)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secretion &amp; blood flow.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neurotransmitters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acetylcholine, nitric oxide, serotonin, GABA, dopamine.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of body serotonin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gut-made (enzymes TPH1 in EC cells, TPH2 in neurons). Enteric glia outnumber the neurons.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057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1F5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 run digestion entirely on its own — without checking in with the brain.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call it the “second brain”:
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neurotransmitters, same architecture (neurons + glia), its own reflex circuits — a nervous system in your gut wall.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vagus nerve: an 80% sensing highway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vagal fibers carry signals UP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(gut→brain); only 20% carry commands down. Your gut talks far more than it listens — a giant sensory organ streaming a status report to your head.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CF4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977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“Gut feeling” is literal —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streams real-time data the brain blends into mood, appetite and alertness.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0" y="2651760"/>
            <a:ext cx="1463040" cy="1463040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651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0" y="2651760"/>
            <a:ext cx="1463040" cy="1463040"/>
          </a:xfrm>
          <a:prstGeom prst="ellipse">
            <a:avLst/>
          </a:prstGeom>
          <a:solidFill>
            <a:srgbClr val="E3EFEE"/>
          </a:solidFill>
          <a:ln w="25400">
            <a:solidFill>
              <a:srgbClr val="1F56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2651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3108960"/>
            <a:ext cx="1554480" cy="0"/>
          </a:xfrm>
          <a:prstGeom prst="line">
            <a:avLst/>
          </a:prstGeom>
          <a:noFill/>
          <a:ln w="88900">
            <a:solidFill>
              <a:srgbClr val="2F7D77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gut → brain  (sensing)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3749040"/>
            <a:ext cx="1554480" cy="0"/>
          </a:xfrm>
          <a:prstGeom prst="line">
            <a:avLst/>
          </a:prstGeom>
          <a:noFill/>
          <a:ln w="38100">
            <a:solidFill>
              <a:srgbClr val="D2603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9494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brain → gut  (commands)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2 (DETAIL)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lines in and out of the gut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 (bottom-up)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Nodose-ganglion fibers sense stretch &amp; chemistry → the NTS in the brainstem → hypothalamus, amygdala, hippocampus, insular/prefrontal cortex. One route even links gut signals to memory.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Efferent (top-down)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dorsal motor nucleus (DMV) — but they don't touch gut muscle directly; they synapse onto the enteric nervous system, which executes the command.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afferents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Splanchnic &amp; pelvic fibers (dorsal-root ganglia) carry pain/noxious signals — the main route for visceral PAIN, vs the vagus carrying everyday physiological chatter.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hub: NTS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nucleus tractus solitarius is the brain's 'inbox' for the gut — and, later, exactly where the GLP-1 drugs land.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THAT CHANGED THE FIELD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millisecond synapse: how the gut tastes sugar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gut cells grow a tail — 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neuropod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wires directly into the vagus (Bohórquez 2015; Kaelberer 2018 showed it uses glutamate, signaling in milliseconds). They tell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sugar from sweetener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glucose fires a strong SGLT1 signal driving dopamine reward; sweeteners fire only a weak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69164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3F0EC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D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858000" y="23317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3A3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enteroendocrine cells have long, basal extensions, called neuropods, which synapse with vagal afferent fibers to directly convey sugar-sensing information to the brain within milliseconds.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0" y="4937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Josephine M. Egan, M.D.
</a:t>
            </a:r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England Journal of Medicine, 2024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channels gut and brain talk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chemicals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SCFAs from fiber calm inflammation &amp; feed the brain; some microbes make GABA, dopamine, serotonin outright.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line (HPA)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hormones loosen the gut lining &amp; unsettle microbes — a vicious loop back to the brain.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anti-inflammatory brake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vagus dials inflammation DOWN via acetylcholine on immune cells. Low vagal tone → more inflammation.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wire &amp; 'leaky gut'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microbes let bacterial bits into the blood, tripping the immune alarm toward the brain.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Short-chain fatty acids: fiber → brain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ferment fiber into butyrate, propionate &amp; acetate, which act on three receptors: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FFAR2 (GPR43)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gut endocrine &amp; immune cells — triggers GLP-1 &amp; PYY release (the appetite hormones).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FFAR3 (GPR41)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276148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enteric, vagal, dorsal-root &amp; sympathetic neurons — a direct neural sensor of microbial activity.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69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15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GPR109a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636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colon epithelium &amp; immune cells — part of the anti-inflammatory tone.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406908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15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Butyrate's day job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46520" y="4636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 HDAC inhibitor — changes gene expression, calms microglia, and SCFAs help seal the blood–brain barrier.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 1 (DETAIL)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amino acid, three fates: tryptophan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brain cares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Serotonin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5-HT (TPH1/TPH2)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 of body serotonin; tunes vagus &amp; ENS (doesn't cross BBB)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Kynurenine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Kynurenic vs quinolinic acid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Inflammation (IDO) tips the balance toward the NEUROTOXIC side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Indole-3-aldehyde, tryptamine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AhR → IL-22 → barrier integrity &amp; BBB upkeep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CF4E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72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flips tryptophan from making calming serotonin to making neurotoxic quinolinic acid — a direct chemical link from gut inflammation to mood.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CHANNELS 2–4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Stress, the brake, and leaky gut — in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stress axis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from the brain raises gut permeability &amp; dysbiosis. CRF-R1 speeds the colon (stress diarrhea); CRF-R2 slows the stomach. Germ-free mice over-react to stress until colonized.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Cholinergic brake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→ acetylcholine → α7nAChR on macrophages → shuts off TNF-α. A splenic relay extends it. Low vagal tone shows up in IBD &amp; IBS.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gut → brain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&amp; peptidoglycan cross into blood → TLR4/NF-κB → IL-1β, IL-6, TNF-α reach the brain. Microbes even train microglia (immature in germ-free mice).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2011 — the proof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probiotic strain changed brain GABA receptors &amp; reduced anxiety in mice — abolished by cutting the vagus. The cleanest proof microbes signal THROUGH the vagus.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MICROBIOME–GUT–BRAIN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what you eat, to messengers, to molecular keys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CF4E3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shapes your microbiome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fiber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&amp; age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mode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· place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17320" y="4434840"/>
            <a:ext cx="1783080" cy="1097280"/>
          </a:xfrm>
          <a:prstGeom prst="ellipse">
            <a:avLst/>
          </a:prstGeom>
          <a:solidFill>
            <a:srgbClr val="E9D9C4"/>
          </a:solidFill>
          <a:ln w="19050">
            <a:solidFill>
              <a:srgbClr val="B88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~38T microbes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E9F0E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reach the brain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1188720" cy="914400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423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3520440"/>
            <a:ext cx="3108960" cy="438912"/>
          </a:xfrm>
          <a:prstGeom prst="roundRect">
            <a:avLst>
              <a:gd name="adj" fmla="val 41667"/>
            </a:avLst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5204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· stress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4069080"/>
            <a:ext cx="3108960" cy="438912"/>
          </a:xfrm>
          <a:prstGeom prst="roundRect">
            <a:avLst>
              <a:gd name="adj" fmla="val 41667"/>
            </a:avLst>
          </a:prstGeom>
          <a:solidFill>
            <a:srgbClr val="2F7D77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40690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nerve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17720"/>
            <a:ext cx="3108960" cy="438912"/>
          </a:xfrm>
          <a:prstGeom prst="roundRect">
            <a:avLst>
              <a:gd name="adj" fmla="val 41667"/>
            </a:avLst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6177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cells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5166360"/>
            <a:ext cx="3108960" cy="438912"/>
          </a:xfrm>
          <a:prstGeom prst="roundRect">
            <a:avLst>
              <a:gd name="adj" fmla="val 41667"/>
            </a:avLst>
          </a:prstGeom>
          <a:solidFill>
            <a:srgbClr val="D260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5166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hormones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7E3DA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molecular keys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246888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36676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Short-chain fatty acids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28895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→ anti-inflammatory brain fuel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35204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366760" y="3611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Tryptophan &amp; indoles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39410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serotonin's raw material; calm vs irritate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36676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6760" y="499262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microbe-modified; trigger GLP-1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recreation of the microbiome–gut–brain axis figure (Microbial Biotechnology, 2024).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AXIS BREAKS 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 at one end shows up at the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'disorder of gut–brain interaction.' Doubles–triples anxiety (HR 2.89) &amp; depression (HR 2.71) risk — and vice versa. ~60% have visceral hypersensitivity.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(Crohn's, colitis)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disease ~2× anxiety (OR 2.5), 3× depression (OR 3.1) vs remission. Depression predicts more flares (RR 1.60) &amp; surgery (RR 1.63).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transdiagnostic signature: depleted butyrate-makers (Faecalibacterium, Coprococcus), enriched Eggerthella — shared across depression, bipolar, schizophrenia.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issues in 47–80% of children. Transplanting ASD-donor microbes into germ-free mice induces autism-like behavior.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Parkinson's may start in the gut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α-synuclein — the Parkinson's protein — shows up in gut nerves years before the brain; constipation often precedes the tremor by a decade. The 'body-first' idea: it begins in the gut and climbs the vagus, prion-style.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389120" cy="3657600"/>
          </a:xfrm>
          <a:prstGeom prst="roundRect">
            <a:avLst>
              <a:gd name="adj" fmla="val 2250"/>
            </a:avLst>
          </a:prstGeom>
          <a:solidFill>
            <a:srgbClr val="33302B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52360" y="2468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2019: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α-synuclein injected into the mouse gut marched to the brain — blocked by cutting the vagus.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37033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vagotomy decades earlier → ~41–47% lower PD risk (Swedish HR 0.59, Danish HR 0.53).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9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most human gut–brain links are correlations. Animal 'cut-the-wire' studies are the strongest causal evidence — proving cause in people is hard.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Therapeutics — with the trial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meta (23 RCTs): depression SMD −0.96, anxiety SMD −0.59. But CANMAT rates them only cautious third-line — trials inconsistent.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stimulation (VNS)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(n=493) missed its primary endpoint but improved quality of life &amp; function; taVNS matched citalopram in one RCT.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— the cleanest evidence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(2017): Mediterranean diet beat control, Cohen's d −1.16, remission 32% vs 8%, NNT 4.1.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Fecal transplant (FMT)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meta (12 RCTs): depression SMD −1.21, stronger via GI delivery. Promising but no large RCTs yet.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PLOT TWIST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gut and your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Dantas et al. (2022)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first placebo-controlled trial showing probiotics change economic decisions. Over 28 days the probiotic group became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risk-taking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real-money games.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economics' most 'fixed' assumptions — risk appetite and patience — shifted from a change in gut bacteria.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0" y="178308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12280" y="2423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 group took fewer risky gambles than placebo.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79476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434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chose more future-oriented options — waiting for the bigger later reward.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572000" cy="4572000"/>
          </a:xfrm>
          <a:prstGeom prst="ellipse">
            <a:avLst/>
          </a:prstGeom>
          <a:solidFill>
            <a:srgbClr val="A8431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THE SEQUEL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Ozempic and the gut–brain axis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is one of those gut hormones — released after you eat, it tells the brain you're full. Semaglutide (Ozempic / Wegovy) is a lab-made copy. Built for diabetes and weight, it's really a master key into the gut–brain reward system.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GLP-1S, TWO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hormone vs. the drug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GLP-1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drug (semaglutide)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Half-life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Whispers to nearby vagus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 in blood + reaches brain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entry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vagus &amp; brainstem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'leaky' windows (CVOs)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the vagus?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for quick effects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works without it long-term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reached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local brainstem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Brainstem, hypothalamus, reward &amp; emotion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post-meal bump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Steady, far above natural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 of the OpenEvidence comparison table.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DRUG GETS 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skips the brain's bouncer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 barely crosses the blood–brain barrier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(brain:plasma &lt;0.01). It slips in through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circumventricular organs (CVOs)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area postrema &amp; median eminence — where the barrier is deliberately leaky. With a 5–7 day half-life it parks there at supraphysiological levels. Its energy effects need Adcyap1+ neurons in the area postrema/NTS.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783080"/>
            <a:ext cx="5029200" cy="3931920"/>
          </a:xfrm>
          <a:prstGeom prst="roundRect">
            <a:avLst>
              <a:gd name="adj" fmla="val 2093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0" y="2240280"/>
            <a:ext cx="2377440" cy="2377440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283464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320040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44805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4892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drug enters here (leaky windows / CVOs)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 CRAVING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down the dopamine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reward hub, GLP-1 receptors sit mostly on the BRAKES (VTA GABA neurons). The drug presses them, dopamine drops in the nucleus accumbens, and the pull of whatever you craved fades.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834640"/>
            <a:ext cx="2514600" cy="11887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drug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VTA receptor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90672" y="320040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56432" y="28346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6432" y="2834640"/>
            <a:ext cx="2514600" cy="118872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brakes 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93592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inhibition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98464" y="320040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64224" y="28346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2834640"/>
            <a:ext cx="2514600" cy="118872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↓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01384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nucleus accumbens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06256" y="320040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272016" y="28346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2834640"/>
            <a:ext cx="2514600" cy="118872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409176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B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↓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09176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alcohol · nicotine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(Zhu 2025): in mice, dopamine activity &amp; appetite recovered during repeated dosing — possible tolerance.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IN 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Promising, mixed, and one big surprise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— strongest signal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Klausen (Lancet 2026): semaglutide cut heavy-drinking days −13.7pp, NNT 4.3 — beating naltrexone/acamprosate (NNT ≥7). Hendershot 2025 agrees.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habits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use of nicotine (HR 0.80), cocaine (0.80), opioids (0.75), cannabis (0.86). DPP-4 inhibitors don't work — needs drug-level GLP-1R activation.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 cohort: 42% lower risk of worsening mental illness (aHR 0.62) — agent-specific (not exenatide/dulaglutide).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Suicidality — resolved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&amp; EMA: no causal link (144-RCT meta RR 0.76). The signal was media-driven reporting bias after late 2023.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ITSELF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Neurodegeneration: promise, then phase-3 reality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dazzled — GLP-1 RAs tied to 45% lower dementia (OR 0.55). Then the trials landed: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128016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Exenatide-PD (Athauda 2017)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wk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LIXIPARK (Meissner 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Lixisenatide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(borderline)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Exenatide-PD3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 ph.3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wk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(definitive)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EVOKE (Alzheimer's)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semaglutide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cognitive 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CF4E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846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 </a:t>
            </a:r>
            <a:pPr indent="0" marL="0">
              <a:buNone/>
            </a:pPr>
            <a:r>
              <a:rPr lang="en-US" sz="15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observational hope didn't survive the rigorous trials. Correlation isn't cure — a perfect teaching moment.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CLOSES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gut-hormone drug shifts how we decide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 et al. (JAMA Psychiatry 2026): 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16 weeks of oral semaglutide, MDD patients became more willing to work for rewards — parameter k (effort cost) fell (β −1.737, P=.03) —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any change in mood.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Probiotics nudged risk &amp; patience; semaglutide nudged effort. Same reward dashboard, same hidden hand reaching for it from the gut.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NUTSHELL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for the dinner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You have two brains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 gut neurons, 95% of serotonin — talking to your head constantly, mostly upward.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Microbes are messengers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→ calming fatty acids; the right bugs make neurotransmitters. Diet tunes the chemistry.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Breakdowns go both ways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→ depression → Parkinson's — gut and brain rise and fall together; sometimes the gut leads.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It reaches your choices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 &amp; GLP-1 drugs both nudge the reward circuit — risk, patience, craving, effort.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5651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CAN A FAMILY DO?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low-risk levers all point the same 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6517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fiber &amp; fermented foods — feed the good bugs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384048" cy="384048"/>
          </a:xfrm>
          <a:prstGeom prst="ellipse">
            <a:avLst/>
          </a:prstGeom>
          <a:solidFill>
            <a:srgbClr val="2F7D77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45643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Mediterranean — the one diet with trial evidence for mood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370832"/>
            <a:ext cx="384048" cy="384048"/>
          </a:xfrm>
          <a:prstGeom prst="ellipse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26110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stress &amp; sleep — the stress line is real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5175504"/>
            <a:ext cx="384048" cy="384048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506577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body — vagal tone and microbes both benefit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gut isn't just where food goes — it's a sensing, chemical, decision-shaping organ in lifelong conversation with your brain, and medicine is only now learning to listen 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Gut-Brain Axis — Presentable with Depth</dc:title>
  <dc:subject>PptxGenJS Presentation</dc:subject>
  <dc:creator>Cowork</dc:creator>
  <cp:lastModifiedBy>Cowork</cp:lastModifiedBy>
  <cp:revision>1</cp:revision>
  <dcterms:created xsi:type="dcterms:W3CDTF">2026-06-09T21:42:54Z</dcterms:created>
  <dcterms:modified xsi:type="dcterms:W3CDTF">2026-06-09T21:42:54Z</dcterms:modified>
</cp:coreProperties>
</file>