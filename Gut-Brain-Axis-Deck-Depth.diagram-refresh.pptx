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2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120640" cy="5120640"/>
          </a:xfrm>
          <a:prstGeom prst="ellipse">
            <a:avLst/>
          </a:prstGeom>
          <a:solidFill>
            <a:srgbClr val="A8431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389120" cy="4389120"/>
          </a:xfrm>
          <a:prstGeom prst="ellipse">
            <a:avLst/>
          </a:prstGeom>
          <a:solidFill>
            <a:srgbClr val="1F5651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08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 GUIDE TO YOUR INSIDES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920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Gut–Brain Axis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8869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7D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microbes in your belly hold a lifelong, two-way conversation with your brain — shaping mood, cravings, health, and even the choices you make.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4754880"/>
            <a:ext cx="5120640" cy="548640"/>
          </a:xfrm>
          <a:prstGeom prst="roundRect">
            <a:avLst>
              <a:gd name="adj" fmla="val 50000"/>
            </a:avLst>
          </a:prstGeom>
          <a:solidFill>
            <a:srgbClr val="D2603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7548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for Sam &amp; family  ·  presentable + depth edition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organs, one constant conversation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centuries we treated the gut as plumbing. We now know it is one of the most heavily wired, chemically chatty organs in the body — and most of that wiring reports UP to the brain.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i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cities </a:t>
            </a:r>
            <a:pPr indent="0" marL="0">
              <a:lnSpc>
                <a:spcPct val="110000"/>
              </a:lnSpc>
              <a:buNone/>
            </a:pPr>
            <a:r>
              <a:rPr lang="en-US" sz="1900" b="1" i="1" dirty="0">
                <a:solidFill>
                  <a:srgbClr val="A843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joined by a highway, a postal service, and a private phone line</a:t>
            </a:r>
            <a:pPr indent="0" marL="0">
              <a:lnSpc>
                <a:spcPct val="110000"/>
              </a:lnSpc>
              <a:buNone/>
            </a:pPr>
            <a:r>
              <a:rPr lang="en-US" sz="1900" i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all running at once, both directions.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0" y="1737360"/>
            <a:ext cx="5212080" cy="3566160"/>
          </a:xfrm>
          <a:prstGeom prst="roundRect">
            <a:avLst>
              <a:gd name="adj" fmla="val 2308"/>
            </a:avLst>
          </a:prstGeom>
          <a:solidFill>
            <a:srgbClr val="FBF7F2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0" y="2286000"/>
            <a:ext cx="1737360" cy="1737360"/>
          </a:xfrm>
          <a:prstGeom prst="ellipse">
            <a:avLst/>
          </a:prstGeom>
          <a:solidFill>
            <a:srgbClr val="F7E3DA"/>
          </a:solidFill>
          <a:ln w="25400">
            <a:solidFill>
              <a:srgbClr val="A843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22860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418320" y="3291840"/>
            <a:ext cx="1737360" cy="1737360"/>
          </a:xfrm>
          <a:prstGeom prst="ellipse">
            <a:avLst/>
          </a:prstGeom>
          <a:solidFill>
            <a:srgbClr val="E3EFEE"/>
          </a:solidFill>
          <a:ln w="25400">
            <a:solidFill>
              <a:srgbClr val="1F56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0" y="32918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5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595360" y="3154680"/>
            <a:ext cx="822960" cy="960120"/>
          </a:xfrm>
          <a:prstGeom prst="line">
            <a:avLst/>
          </a:prstGeom>
          <a:noFill/>
          <a:ln w="63500">
            <a:solidFill>
              <a:srgbClr val="2F7D77"/>
            </a:solidFill>
            <a:prstDash val="solid"/>
            <a:headEnd type="triangl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583680" y="4800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highway · post · phone line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gut earns the nickname 'second brain'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45948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359152"/>
            <a:ext cx="3276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7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~500M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035808"/>
            <a:ext cx="3093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 line the gut — more than the spinal cord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36720" y="2194560"/>
            <a:ext cx="345948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28160" y="2359152"/>
            <a:ext cx="3276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26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~95%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419600" y="3035808"/>
            <a:ext cx="3093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body's serotonin is made in the gut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24800" y="2194560"/>
            <a:ext cx="345948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16240" y="2359152"/>
            <a:ext cx="3276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 trillion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107680" y="3035808"/>
            <a:ext cx="3093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microbes — a chemical factory &amp; second organ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…and ~80% of the vagus nerve carries signals UP, from gut to brain.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Brain basics — the five ideas everything hangs 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118872" cy="1691640"/>
          </a:xfrm>
          <a:prstGeom prst="rect">
            <a:avLst/>
          </a:prstGeom>
          <a:solidFill>
            <a:srgbClr val="7A4B6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chemicals run the show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 is the brake (inhibits neurons); glutamate is the accelerator (excites them). Almost every effect here is one pressing on the other.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783080"/>
            <a:ext cx="118872" cy="169164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Dopamine = 'I want that'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4652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in the reward circuit. Food, sugar, alcohol, nicotine all push it. The GLP-1 drugs turn it down.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657600"/>
            <a:ext cx="118872" cy="1691640"/>
          </a:xfrm>
          <a:prstGeom prst="rect">
            <a:avLst/>
          </a:prstGeom>
          <a:solidFill>
            <a:srgbClr val="2F7D77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reward circuit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VTA → nucleus accumbens (mesolimbic dopamine). VTA dopamine neurons have a GABA 'brake' sitting on them — the whole GLP-1 story.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657600"/>
            <a:ext cx="118872" cy="1691640"/>
          </a:xfrm>
          <a:prstGeom prst="rect">
            <a:avLst/>
          </a:prstGeom>
          <a:solidFill>
            <a:srgbClr val="5B8A4F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walled brain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4652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blood–brain barrier seals the brain off — except a few leaky 'windows' (CVOs) where drugs like semaglutide sneak in.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HARDWARE ·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second brain: the enteric nervous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577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5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200–600 million neurons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line the gut — more than the spinal cord — in two plexuses: the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myenteric (Auerbach's)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runs motility; the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submucosal (Meissner's)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runs secretion &amp; blood flow.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5577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neurotransmitters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acetylcholine, nitric oxide, serotonin, GABA, dopamine.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~95% of body serotonin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gut-made (enzymes TPH1 in EC cells, TPH2 in neurons). Enteric glia outnumber the neurons.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0" y="1783080"/>
            <a:ext cx="5212080" cy="3840480"/>
          </a:xfrm>
          <a:prstGeom prst="roundRect">
            <a:avLst>
              <a:gd name="adj" fmla="val 2143"/>
            </a:avLst>
          </a:prstGeom>
          <a:solidFill>
            <a:srgbClr val="FBF7F2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20574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i="1" dirty="0">
                <a:solidFill>
                  <a:srgbClr val="1F56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can run digestion entirely on its own — without checking in with the brain.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75120" y="329184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call it the “second brain”:
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neurotransmitters, same architecture (neurons + glia), its own reflex circuits — a nervous system in your gut wall.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HARDWARE ·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vagus nerve: an 80% sensing highway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5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 of vagal fibers carry signals UP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(gut→brain); only 20% carry commands down. Your gut talks far more than it listens — a giant sensory organ streaming a status report to your head.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84048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FCF4E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9776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“Gut feeling” is literal — </a:t>
            </a:r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gut streams real-time data the brain blends into mood, appetite and alertness.</a:t>
            </a:r>
            <a:endParaRPr lang="en-US" sz="1550" dirty="0"/>
          </a:p>
        </p:txBody>
      </p:sp>
      <p:sp>
        <p:nvSpPr>
          <p:cNvPr id="30" name="Diagram panel"/>
          <p:cNvSpPr/>
          <p:nvPr/>
        </p:nvSpPr>
        <p:spPr>
          <a:xfrm>
            <a:off x="6400800" y="1737360"/>
            <a:ext cx="5212080" cy="356616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E7DDD1"/>
            </a:solidFill>
            <a:prstDash val="solid"/>
          </a:ln>
        </p:spPr>
      </p:sp>
      <p:sp>
        <p:nvSpPr>
          <p:cNvPr id="31" name="Brain lobe 1"/>
          <p:cNvSpPr/>
          <p:nvPr/>
        </p:nvSpPr>
        <p:spPr>
          <a:xfrm>
            <a:off x="6830000" y="2500000"/>
            <a:ext cx="560000" cy="520000"/>
          </a:xfrm>
          <a:prstGeom prst="ellipse">
            <a:avLst/>
          </a:prstGeom>
          <a:solidFill>
            <a:srgbClr val="F7E3DA"/>
          </a:solidFill>
          <a:ln w="19050">
            <a:solidFill>
              <a:srgbClr val="A8431F"/>
            </a:solidFill>
            <a:prstDash val="solid"/>
          </a:ln>
        </p:spPr>
      </p:sp>
      <p:sp>
        <p:nvSpPr>
          <p:cNvPr id="32" name="Brain lobe 2"/>
          <p:cNvSpPr/>
          <p:nvPr/>
        </p:nvSpPr>
        <p:spPr>
          <a:xfrm>
            <a:off x="7190000" y="2360000"/>
            <a:ext cx="610000" cy="560000"/>
          </a:xfrm>
          <a:prstGeom prst="ellipse">
            <a:avLst/>
          </a:prstGeom>
          <a:solidFill>
            <a:srgbClr val="F7E3DA"/>
          </a:solidFill>
          <a:ln w="19050">
            <a:solidFill>
              <a:srgbClr val="A8431F"/>
            </a:solidFill>
            <a:prstDash val="solid"/>
          </a:ln>
        </p:spPr>
      </p:sp>
      <p:sp>
        <p:nvSpPr>
          <p:cNvPr id="33" name="Brain lobe 3"/>
          <p:cNvSpPr/>
          <p:nvPr/>
        </p:nvSpPr>
        <p:spPr>
          <a:xfrm>
            <a:off x="7590000" y="2510000"/>
            <a:ext cx="530000" cy="510000"/>
          </a:xfrm>
          <a:prstGeom prst="ellipse">
            <a:avLst/>
          </a:prstGeom>
          <a:solidFill>
            <a:srgbClr val="F7E3DA"/>
          </a:solidFill>
          <a:ln w="19050">
            <a:solidFill>
              <a:srgbClr val="A8431F"/>
            </a:solidFill>
            <a:prstDash val="solid"/>
          </a:ln>
        </p:spPr>
      </p:sp>
      <p:sp>
        <p:nvSpPr>
          <p:cNvPr id="34" name="Brain lobe 4"/>
          <p:cNvSpPr/>
          <p:nvPr/>
        </p:nvSpPr>
        <p:spPr>
          <a:xfrm>
            <a:off x="7000000" y="2860000"/>
            <a:ext cx="650000" cy="520000"/>
          </a:xfrm>
          <a:prstGeom prst="ellipse">
            <a:avLst/>
          </a:prstGeom>
          <a:solidFill>
            <a:srgbClr val="F7E3DA"/>
          </a:solidFill>
          <a:ln w="19050">
            <a:solidFill>
              <a:srgbClr val="A8431F"/>
            </a:solidFill>
            <a:prstDash val="solid"/>
          </a:ln>
        </p:spPr>
      </p:sp>
      <p:sp>
        <p:nvSpPr>
          <p:cNvPr id="35" name="Brain lobe 5"/>
          <p:cNvSpPr/>
          <p:nvPr/>
        </p:nvSpPr>
        <p:spPr>
          <a:xfrm>
            <a:off x="7480000" y="2860000"/>
            <a:ext cx="610000" cy="500000"/>
          </a:xfrm>
          <a:prstGeom prst="ellipse">
            <a:avLst/>
          </a:prstGeom>
          <a:solidFill>
            <a:srgbClr val="F7E3DA"/>
          </a:solidFill>
          <a:ln w="19050">
            <a:solidFill>
              <a:srgbClr val="A8431F"/>
            </a:solidFill>
            <a:prstDash val="solid"/>
          </a:ln>
        </p:spPr>
      </p:sp>
      <p:sp>
        <p:nvSpPr>
          <p:cNvPr id="36" name="Brainstem NTS"/>
          <p:cNvSpPr/>
          <p:nvPr/>
        </p:nvSpPr>
        <p:spPr>
          <a:xfrm>
            <a:off x="7810000" y="3260000"/>
            <a:ext cx="365000" cy="690000"/>
          </a:xfrm>
          <a:prstGeom prst="roundRect">
            <a:avLst/>
          </a:prstGeom>
          <a:solidFill>
            <a:srgbClr val="F7E3DA"/>
          </a:solidFill>
          <a:ln w="12700">
            <a:solidFill>
              <a:srgbClr val="A8431F"/>
            </a:solidFill>
            <a:prstDash val="solid"/>
          </a:ln>
        </p:spPr>
      </p:sp>
      <p:sp>
        <p:nvSpPr>
          <p:cNvPr id="37" name="Brain label"/>
          <p:cNvSpPr/>
          <p:nvPr/>
        </p:nvSpPr>
        <p:spPr>
          <a:xfrm>
            <a:off x="7060000" y="2800000"/>
            <a:ext cx="93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</a:t>
            </a:r>
            <a:endParaRPr lang="en-US" sz="1150" dirty="0"/>
          </a:p>
        </p:txBody>
      </p:sp>
      <p:sp>
        <p:nvSpPr>
          <p:cNvPr id="38" name="NTS label"/>
          <p:cNvSpPr/>
          <p:nvPr/>
        </p:nvSpPr>
        <p:spPr>
          <a:xfrm>
            <a:off x="8180000" y="3430000"/>
            <a:ext cx="72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brainstem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NTS</a:t>
            </a:r>
            <a:endParaRPr lang="en-US" sz="850" dirty="0"/>
          </a:p>
        </p:txBody>
      </p:sp>
      <p:sp>
        <p:nvSpPr>
          <p:cNvPr id="39" name="Gut outer"/>
          <p:cNvSpPr/>
          <p:nvPr/>
        </p:nvSpPr>
        <p:spPr>
          <a:xfrm>
            <a:off x="9870000" y="2380000"/>
            <a:ext cx="1050000" cy="1550000"/>
          </a:xfrm>
          <a:prstGeom prst="arc">
            <a:avLst/>
          </a:prstGeom>
          <a:noFill/>
          <a:ln w="152400">
            <a:solidFill>
              <a:srgbClr val="1F5651"/>
            </a:solidFill>
            <a:prstDash val="solid"/>
          </a:ln>
        </p:spPr>
      </p:sp>
      <p:sp>
        <p:nvSpPr>
          <p:cNvPr id="40" name="Gut inner"/>
          <p:cNvSpPr/>
          <p:nvPr/>
        </p:nvSpPr>
        <p:spPr>
          <a:xfrm>
            <a:off x="9560000" y="2970000"/>
            <a:ext cx="900000" cy="1450000"/>
          </a:xfrm>
          <a:prstGeom prst="arc">
            <a:avLst/>
          </a:prstGeom>
          <a:noFill/>
          <a:ln w="165100">
            <a:solidFill>
              <a:srgbClr val="2F7D77"/>
            </a:solidFill>
            <a:prstDash val="solid"/>
          </a:ln>
        </p:spPr>
      </p:sp>
      <p:sp>
        <p:nvSpPr>
          <p:cNvPr id="41" name="Gut glow"/>
          <p:cNvSpPr/>
          <p:nvPr/>
        </p:nvSpPr>
        <p:spPr>
          <a:xfrm>
            <a:off x="9730000" y="2850000"/>
            <a:ext cx="1170000" cy="980000"/>
          </a:xfrm>
          <a:prstGeom prst="ellipse">
            <a:avLst/>
          </a:prstGeom>
          <a:solidFill>
            <a:srgbClr val="E3EFEE">
              <a:alpha val="48000"/>
            </a:srgbClr>
          </a:solidFill>
          <a:ln w="12700">
            <a:solidFill>
              <a:srgbClr val="1F5651"/>
            </a:solidFill>
            <a:prstDash val="solid"/>
          </a:ln>
        </p:spPr>
      </p:sp>
      <p:sp>
        <p:nvSpPr>
          <p:cNvPr id="42" name="Gut label"/>
          <p:cNvSpPr/>
          <p:nvPr/>
        </p:nvSpPr>
        <p:spPr>
          <a:xfrm>
            <a:off x="9740000" y="3150000"/>
            <a:ext cx="116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5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5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enteric sensors</a:t>
            </a:r>
            <a:endParaRPr lang="en-US" sz="1050" dirty="0"/>
          </a:p>
        </p:txBody>
      </p:sp>
      <p:sp>
        <p:nvSpPr>
          <p:cNvPr id="43" name="afferent fiber 1"/>
          <p:cNvSpPr/>
          <p:nvPr/>
        </p:nvSpPr>
        <p:spPr>
          <a:xfrm>
            <a:off x="9520000" y="2780000"/>
            <a:ext cx="-980000" cy="-370000"/>
          </a:xfrm>
          <a:prstGeom prst="line">
            <a:avLst/>
          </a:prstGeom>
          <a:noFill/>
          <a:ln w="17780">
            <a:solidFill>
              <a:srgbClr val="2F7D77">
                <a:alpha val="56000"/>
              </a:srgbClr>
            </a:solidFill>
            <a:prstDash val="solid"/>
            <a:headEnd type="triangle"/>
          </a:ln>
        </p:spPr>
      </p:sp>
      <p:sp>
        <p:nvSpPr>
          <p:cNvPr id="44" name="afferent fiber 2"/>
          <p:cNvSpPr/>
          <p:nvPr/>
        </p:nvSpPr>
        <p:spPr>
          <a:xfrm>
            <a:off x="9520000" y="2990000"/>
            <a:ext cx="-980000" cy="-225000"/>
          </a:xfrm>
          <a:prstGeom prst="line">
            <a:avLst/>
          </a:prstGeom>
          <a:noFill/>
          <a:ln w="17780">
            <a:solidFill>
              <a:srgbClr val="2F7D77">
                <a:alpha val="56000"/>
              </a:srgbClr>
            </a:solidFill>
            <a:prstDash val="solid"/>
            <a:headEnd type="triangle"/>
          </a:ln>
        </p:spPr>
      </p:sp>
      <p:sp>
        <p:nvSpPr>
          <p:cNvPr id="45" name="afferent fiber 3"/>
          <p:cNvSpPr/>
          <p:nvPr/>
        </p:nvSpPr>
        <p:spPr>
          <a:xfrm>
            <a:off x="9520000" y="3200000"/>
            <a:ext cx="-980000" cy="-80000"/>
          </a:xfrm>
          <a:prstGeom prst="line">
            <a:avLst/>
          </a:prstGeom>
          <a:noFill/>
          <a:ln w="17780">
            <a:solidFill>
              <a:srgbClr val="2F7D77">
                <a:alpha val="56000"/>
              </a:srgbClr>
            </a:solidFill>
            <a:prstDash val="solid"/>
            <a:headEnd type="triangle"/>
          </a:ln>
        </p:spPr>
      </p:sp>
      <p:sp>
        <p:nvSpPr>
          <p:cNvPr id="46" name="afferent fiber 4"/>
          <p:cNvSpPr/>
          <p:nvPr/>
        </p:nvSpPr>
        <p:spPr>
          <a:xfrm>
            <a:off x="9520000" y="3410000"/>
            <a:ext cx="-980000" cy="65000"/>
          </a:xfrm>
          <a:prstGeom prst="line">
            <a:avLst/>
          </a:prstGeom>
          <a:noFill/>
          <a:ln w="17780">
            <a:solidFill>
              <a:srgbClr val="2F7D77">
                <a:alpha val="56000"/>
              </a:srgbClr>
            </a:solidFill>
            <a:prstDash val="solid"/>
            <a:headEnd type="triangle"/>
          </a:ln>
        </p:spPr>
      </p:sp>
      <p:sp>
        <p:nvSpPr>
          <p:cNvPr id="47" name="afferent fiber 5"/>
          <p:cNvSpPr/>
          <p:nvPr/>
        </p:nvSpPr>
        <p:spPr>
          <a:xfrm>
            <a:off x="9520000" y="3620000"/>
            <a:ext cx="-980000" cy="210000"/>
          </a:xfrm>
          <a:prstGeom prst="line">
            <a:avLst/>
          </a:prstGeom>
          <a:noFill/>
          <a:ln w="17780">
            <a:solidFill>
              <a:srgbClr val="2F7D77">
                <a:alpha val="56000"/>
              </a:srgbClr>
            </a:solidFill>
            <a:prstDash val="solid"/>
            <a:headEnd type="triangle"/>
          </a:ln>
        </p:spPr>
      </p:sp>
      <p:sp>
        <p:nvSpPr>
          <p:cNvPr id="48" name="80 percent afferent bundle"/>
          <p:cNvSpPr/>
          <p:nvPr/>
        </p:nvSpPr>
        <p:spPr>
          <a:xfrm>
            <a:off x="8720000" y="2980000"/>
            <a:ext cx="-1390000" cy="-210000"/>
          </a:xfrm>
          <a:prstGeom prst="line">
            <a:avLst/>
          </a:prstGeom>
          <a:noFill/>
          <a:ln w="88900">
            <a:solidFill>
              <a:srgbClr val="2F7D77"/>
            </a:solidFill>
            <a:prstDash val="solid"/>
            <a:headEnd type="triangle"/>
          </a:ln>
        </p:spPr>
      </p:sp>
      <p:sp>
        <p:nvSpPr>
          <p:cNvPr id="49" name="Nodose ganglion"/>
          <p:cNvSpPr/>
          <p:nvPr/>
        </p:nvSpPr>
        <p:spPr>
          <a:xfrm>
            <a:off x="8860000" y="2890000"/>
            <a:ext cx="365000" cy="365000"/>
          </a:xfrm>
          <a:prstGeom prst="ellipse">
            <a:avLst/>
          </a:prstGeom>
          <a:solidFill>
            <a:srgbClr val="FFFDFA"/>
          </a:solidFill>
          <a:ln w="19050">
            <a:solidFill>
              <a:srgbClr val="1F5651"/>
            </a:solidFill>
            <a:prstDash val="solid"/>
          </a:ln>
        </p:spPr>
      </p:sp>
      <p:sp>
        <p:nvSpPr>
          <p:cNvPr id="50" name="Nodose label"/>
          <p:cNvSpPr/>
          <p:nvPr/>
        </p:nvSpPr>
        <p:spPr>
          <a:xfrm>
            <a:off x="8770000" y="3290000"/>
            <a:ext cx="56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F5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nodose</a:t>
            </a:r>
            <a:endParaRPr lang="en-US" sz="760" dirty="0"/>
          </a:p>
          <a:p>
            <a:pPr algn="ctr" indent="0" marL="0">
              <a:buNone/>
            </a:pPr>
            <a:r>
              <a:rPr lang="en-US" sz="760" b="1" dirty="0">
                <a:solidFill>
                  <a:srgbClr val="1F5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ganglion</a:t>
            </a:r>
            <a:endParaRPr lang="en-US" sz="760" dirty="0"/>
          </a:p>
        </p:txBody>
      </p:sp>
      <p:sp>
        <p:nvSpPr>
          <p:cNvPr id="51" name="20 percent efferent"/>
          <p:cNvSpPr/>
          <p:nvPr/>
        </p:nvSpPr>
        <p:spPr>
          <a:xfrm>
            <a:off x="7760000" y="3920000"/>
            <a:ext cx="2250000" cy="450000"/>
          </a:xfrm>
          <a:prstGeom prst="line">
            <a:avLst/>
          </a:prstGeom>
          <a:noFill/>
          <a:ln w="38100">
            <a:solidFill>
              <a:srgbClr val="D2603A"/>
            </a:solidFill>
            <a:prstDash val="solid"/>
            <a:headEnd type="triangle"/>
          </a:ln>
        </p:spPr>
      </p:sp>
      <p:sp>
        <p:nvSpPr>
          <p:cNvPr id="52" name="80 label"/>
          <p:cNvSpPr/>
          <p:nvPr/>
        </p:nvSpPr>
        <p:spPr>
          <a:xfrm>
            <a:off x="6830000" y="2150000"/>
            <a:ext cx="45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5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gut → brain  (sensing)</a:t>
            </a:r>
            <a:endParaRPr lang="en-US" sz="1250" dirty="0"/>
          </a:p>
        </p:txBody>
      </p:sp>
      <p:sp>
        <p:nvSpPr>
          <p:cNvPr id="53" name="20 label"/>
          <p:cNvSpPr/>
          <p:nvPr/>
        </p:nvSpPr>
        <p:spPr>
          <a:xfrm>
            <a:off x="7200000" y="4660000"/>
            <a:ext cx="39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brain → gut  (commands)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HARDWARE · 2 (DETAIL)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lines in and out of the gut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118872" cy="1691640"/>
          </a:xfrm>
          <a:prstGeom prst="rect">
            <a:avLst/>
          </a:prstGeom>
          <a:solidFill>
            <a:srgbClr val="2F7D7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Afferent (bottom-up)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Nodose-ganglion fibers sense stretch &amp; chemistry → the NTS in the brainstem → hypothalamus, amygdala, hippocampus, insular/prefrontal cortex. One route even links gut signals to memory.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783080"/>
            <a:ext cx="118872" cy="169164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Efferent (top-down)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4652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dorsal motor nucleus (DMV) — but they don't touch gut muscle directly; they synapse onto the enteric nervous system, which executes the command.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657600"/>
            <a:ext cx="118872" cy="1691640"/>
          </a:xfrm>
          <a:prstGeom prst="rect">
            <a:avLst/>
          </a:prstGeom>
          <a:solidFill>
            <a:srgbClr val="7A4B6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Spinal afferents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Splanchnic &amp; pelvic fibers (dorsal-root ganglia) carry pain/noxious signals — the main route for visceral PAIN, vs the vagus carrying everyday physiological chatter.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657600"/>
            <a:ext cx="118872" cy="169164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integration hub: NTS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4652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nucleus tractus solitarius is the brain's 'inbox' for the gut — and, later, exactly where the GLP-1 drugs land.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DISCOVERY THAT CHANGED THE FIELD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millisecond synapse: how the gut tastes sugar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577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 gut cells grow a tail — a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5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neuropod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that wires directly into the vagus (Bohórquez 2015; Kaelberer 2018 showed it uses glutamate, signaling in milliseconds). They tell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sugar from sweetener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glucose fires a strong SGLT1 signal driving dopamine reward; sweeteners fire only a weak one.</a:t>
            </a:r>
            <a:endParaRPr lang="en-US" sz="1600" dirty="0"/>
          </a:p>
        </p:txBody>
      </p:sp>
      <p:sp>
        <p:nvSpPr>
          <p:cNvPr id="30" name="Diagram panel"/>
          <p:cNvSpPr/>
          <p:nvPr/>
        </p:nvSpPr>
        <p:spPr>
          <a:xfrm>
            <a:off x="6400800" y="1691640"/>
            <a:ext cx="5212080" cy="420624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E7DDD1"/>
            </a:solidFill>
            <a:prstDash val="solid"/>
          </a:ln>
        </p:spPr>
      </p:sp>
      <p:sp>
        <p:nvSpPr>
          <p:cNvPr id="31" name="Lumen band"/>
          <p:cNvSpPr/>
          <p:nvPr/>
        </p:nvSpPr>
        <p:spPr>
          <a:xfrm>
            <a:off x="6580000" y="1920000"/>
            <a:ext cx="4840000" cy="600000"/>
          </a:xfrm>
          <a:prstGeom prst="rect">
            <a:avLst/>
          </a:prstGeom>
          <a:solidFill>
            <a:srgbClr val="FCF4E3"/>
          </a:solidFill>
          <a:ln/>
        </p:spPr>
      </p:sp>
      <p:sp>
        <p:nvSpPr>
          <p:cNvPr id="32" name="Lumen label"/>
          <p:cNvSpPr/>
          <p:nvPr/>
        </p:nvSpPr>
        <p:spPr>
          <a:xfrm>
            <a:off x="6700000" y="2070000"/>
            <a:ext cx="160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 INTERIOR</a:t>
            </a:r>
            <a:endParaRPr lang="en-US" sz="950" dirty="0"/>
          </a:p>
        </p:txBody>
      </p:sp>
      <p:sp>
        <p:nvSpPr>
          <p:cNvPr id="33" name="Glucose molecule"/>
          <p:cNvSpPr/>
          <p:nvPr/>
        </p:nvSpPr>
        <p:spPr>
          <a:xfrm>
            <a:off x="7750000" y="2070000"/>
            <a:ext cx="310000" cy="31000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A8431F"/>
            </a:solidFill>
            <a:prstDash val="solid"/>
          </a:ln>
        </p:spPr>
      </p:sp>
      <p:sp>
        <p:nvSpPr>
          <p:cNvPr id="34" name="Glucose G"/>
          <p:cNvSpPr/>
          <p:nvPr/>
        </p:nvSpPr>
        <p:spPr>
          <a:xfrm>
            <a:off x="7750000" y="2110000"/>
            <a:ext cx="31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050" dirty="0"/>
          </a:p>
        </p:txBody>
      </p:sp>
      <p:sp>
        <p:nvSpPr>
          <p:cNvPr id="35" name="Sweetener molecule"/>
          <p:cNvSpPr/>
          <p:nvPr/>
        </p:nvSpPr>
        <p:spPr>
          <a:xfrm>
            <a:off x="9840000" y="2070000"/>
            <a:ext cx="310000" cy="310000"/>
          </a:xfrm>
          <a:prstGeom prst="ellipse">
            <a:avLst/>
          </a:prstGeom>
          <a:solidFill>
            <a:srgbClr val="6B625A">
              <a:alpha val="70000"/>
            </a:srgbClr>
          </a:solidFill>
          <a:ln w="9525">
            <a:solidFill>
              <a:srgbClr val="201B17"/>
            </a:solidFill>
            <a:prstDash val="solid"/>
          </a:ln>
        </p:spPr>
      </p:sp>
      <p:sp>
        <p:nvSpPr>
          <p:cNvPr id="36" name="Sweetener art"/>
          <p:cNvSpPr/>
          <p:nvPr/>
        </p:nvSpPr>
        <p:spPr>
          <a:xfrm>
            <a:off x="9840000" y="2110000"/>
            <a:ext cx="31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</a:t>
            </a:r>
            <a:endParaRPr lang="en-US" sz="850" dirty="0"/>
          </a:p>
        </p:txBody>
      </p:sp>
      <p:sp>
        <p:nvSpPr>
          <p:cNvPr id="37" name="Strong SGLT1 signal"/>
          <p:cNvSpPr/>
          <p:nvPr/>
        </p:nvSpPr>
        <p:spPr>
          <a:xfrm>
            <a:off x="8040000" y="2390000"/>
            <a:ext cx="720000" cy="520000"/>
          </a:xfrm>
          <a:prstGeom prst="line">
            <a:avLst/>
          </a:prstGeom>
          <a:noFill/>
          <a:ln w="50800">
            <a:solidFill>
              <a:srgbClr val="D9A441"/>
            </a:solidFill>
            <a:prstDash val="solid"/>
            <a:headEnd type="triangle"/>
          </a:ln>
        </p:spPr>
      </p:sp>
      <p:sp>
        <p:nvSpPr>
          <p:cNvPr id="38" name="Strong label"/>
          <p:cNvSpPr/>
          <p:nvPr/>
        </p:nvSpPr>
        <p:spPr>
          <a:xfrm>
            <a:off x="8100000" y="2600000"/>
            <a:ext cx="105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SGLT1</a:t>
            </a:r>
            <a:endParaRPr lang="en-US" sz="850" dirty="0"/>
          </a:p>
        </p:txBody>
      </p:sp>
      <p:sp>
        <p:nvSpPr>
          <p:cNvPr id="39" name="Weak sweetener signal"/>
          <p:cNvSpPr/>
          <p:nvPr/>
        </p:nvSpPr>
        <p:spPr>
          <a:xfrm>
            <a:off x="9810000" y="2390000"/>
            <a:ext cx="-590000" cy="520000"/>
          </a:xfrm>
          <a:prstGeom prst="line">
            <a:avLst/>
          </a:prstGeom>
          <a:noFill/>
          <a:ln w="25400">
            <a:solidFill>
              <a:srgbClr val="6B625A"/>
            </a:solidFill>
            <a:prstDash val="dash"/>
            <a:headEnd type="triangle"/>
          </a:ln>
        </p:spPr>
      </p:sp>
      <p:sp>
        <p:nvSpPr>
          <p:cNvPr id="40" name="Weak label"/>
          <p:cNvSpPr/>
          <p:nvPr/>
        </p:nvSpPr>
        <p:spPr>
          <a:xfrm>
            <a:off x="9300000" y="2600000"/>
            <a:ext cx="12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sweet signal</a:t>
            </a:r>
            <a:endParaRPr lang="en-US" sz="850" dirty="0"/>
          </a:p>
        </p:txBody>
      </p:sp>
      <p:sp>
        <p:nvSpPr>
          <p:cNvPr id="41" name="Neuropod cell body"/>
          <p:cNvSpPr/>
          <p:nvPr/>
        </p:nvSpPr>
        <p:spPr>
          <a:xfrm rot="10800000">
            <a:off x="8580000" y="2790000"/>
            <a:ext cx="780000" cy="1380000"/>
          </a:xfrm>
          <a:prstGeom prst="teardrop">
            <a:avLst/>
          </a:prstGeom>
          <a:solidFill>
            <a:srgbClr val="E3EFEE"/>
          </a:solidFill>
          <a:ln w="19050">
            <a:solidFill>
              <a:srgbClr val="1F5651"/>
            </a:solidFill>
            <a:prstDash val="solid"/>
          </a:ln>
        </p:spPr>
      </p:sp>
      <p:sp>
        <p:nvSpPr>
          <p:cNvPr id="42" name="Neuropod nucleus"/>
          <p:cNvSpPr/>
          <p:nvPr/>
        </p:nvSpPr>
        <p:spPr>
          <a:xfrm>
            <a:off x="8840000" y="3290000"/>
            <a:ext cx="320000" cy="320000"/>
          </a:xfrm>
          <a:prstGeom prst="ellipse">
            <a:avLst/>
          </a:prstGeom>
          <a:solidFill>
            <a:srgbClr val="FFFDFA"/>
          </a:solidFill>
          <a:ln w="12700">
            <a:solidFill>
              <a:srgbClr val="1F5651"/>
            </a:solidFill>
            <a:prstDash val="solid"/>
          </a:ln>
        </p:spPr>
      </p:sp>
      <p:sp>
        <p:nvSpPr>
          <p:cNvPr id="43" name="Neuropod label"/>
          <p:cNvSpPr/>
          <p:nvPr/>
        </p:nvSpPr>
        <p:spPr>
          <a:xfrm>
            <a:off x="8620000" y="3460000"/>
            <a:ext cx="76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neuropod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F5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</a:t>
            </a:r>
            <a:endParaRPr lang="en-US" sz="900" dirty="0"/>
          </a:p>
        </p:txBody>
      </p:sp>
      <p:sp>
        <p:nvSpPr>
          <p:cNvPr id="44" name="Neuropod tail"/>
          <p:cNvSpPr/>
          <p:nvPr/>
        </p:nvSpPr>
        <p:spPr>
          <a:xfrm>
            <a:off x="9020000" y="4130000"/>
            <a:ext cx="430000" cy="460000"/>
          </a:xfrm>
          <a:prstGeom prst="line">
            <a:avLst/>
          </a:prstGeom>
          <a:noFill/>
          <a:ln w="50800">
            <a:solidFill>
              <a:srgbClr val="1F5651"/>
            </a:solidFill>
            <a:prstDash val="solid"/>
          </a:ln>
        </p:spPr>
      </p:sp>
      <p:sp>
        <p:nvSpPr>
          <p:cNvPr id="45" name="Synaptic cleft"/>
          <p:cNvSpPr/>
          <p:nvPr/>
        </p:nvSpPr>
        <p:spPr>
          <a:xfrm>
            <a:off x="9420000" y="4610000"/>
            <a:ext cx="300000" cy="0"/>
          </a:xfrm>
          <a:prstGeom prst="line">
            <a:avLst/>
          </a:prstGeom>
          <a:noFill/>
          <a:ln w="76200">
            <a:solidFill>
              <a:srgbClr val="E7DDD1"/>
            </a:solidFill>
            <a:prstDash val="solid"/>
          </a:ln>
        </p:spPr>
      </p:sp>
      <p:sp>
        <p:nvSpPr>
          <p:cNvPr id="46" name="neurotransmitter 1"/>
          <p:cNvSpPr/>
          <p:nvPr/>
        </p:nvSpPr>
        <p:spPr>
          <a:xfrm>
            <a:off x="9470000" y="4500000"/>
            <a:ext cx="60000" cy="600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47" name="neurotransmitter 2"/>
          <p:cNvSpPr/>
          <p:nvPr/>
        </p:nvSpPr>
        <p:spPr>
          <a:xfrm>
            <a:off x="9560000" y="4500000"/>
            <a:ext cx="60000" cy="600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48" name="neurotransmitter 3"/>
          <p:cNvSpPr/>
          <p:nvPr/>
        </p:nvSpPr>
        <p:spPr>
          <a:xfrm>
            <a:off x="9650000" y="4500000"/>
            <a:ext cx="60000" cy="600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49" name="neurotransmitter 4"/>
          <p:cNvSpPr/>
          <p:nvPr/>
        </p:nvSpPr>
        <p:spPr>
          <a:xfrm>
            <a:off x="9470000" y="4620000"/>
            <a:ext cx="60000" cy="600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50" name="neurotransmitter 5"/>
          <p:cNvSpPr/>
          <p:nvPr/>
        </p:nvSpPr>
        <p:spPr>
          <a:xfrm>
            <a:off x="9560000" y="4620000"/>
            <a:ext cx="60000" cy="600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51" name="Vagus nerve"/>
          <p:cNvSpPr/>
          <p:nvPr/>
        </p:nvSpPr>
        <p:spPr>
          <a:xfrm>
            <a:off x="9700000" y="4440000"/>
            <a:ext cx="1600000" cy="390000"/>
          </a:xfrm>
          <a:prstGeom prst="roundRect">
            <a:avLst/>
          </a:prstGeom>
          <a:solidFill>
            <a:srgbClr val="2F7D77"/>
          </a:solidFill>
          <a:ln w="12700">
            <a:solidFill>
              <a:srgbClr val="1F5651"/>
            </a:solidFill>
            <a:prstDash val="solid"/>
          </a:ln>
        </p:spPr>
      </p:sp>
      <p:sp>
        <p:nvSpPr>
          <p:cNvPr id="52" name="Vagus label"/>
          <p:cNvSpPr/>
          <p:nvPr/>
        </p:nvSpPr>
        <p:spPr>
          <a:xfrm>
            <a:off x="9740000" y="4510000"/>
            <a:ext cx="151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VAGUS → brain</a:t>
            </a:r>
            <a:endParaRPr lang="en-US" sz="1050" dirty="0"/>
          </a:p>
        </p:txBody>
      </p:sp>
      <p:sp>
        <p:nvSpPr>
          <p:cNvPr id="53" name="Clock"/>
          <p:cNvSpPr/>
          <p:nvPr/>
        </p:nvSpPr>
        <p:spPr>
          <a:xfrm>
            <a:off x="10700000" y="2820000"/>
            <a:ext cx="430000" cy="430000"/>
          </a:xfrm>
          <a:prstGeom prst="ellipse">
            <a:avLst/>
          </a:prstGeom>
          <a:solidFill>
            <a:srgbClr val="FFFDFA"/>
          </a:solidFill>
          <a:ln w="19050">
            <a:solidFill>
              <a:srgbClr val="A8431F"/>
            </a:solidFill>
            <a:prstDash val="solid"/>
          </a:ln>
        </p:spPr>
      </p:sp>
      <p:sp>
        <p:nvSpPr>
          <p:cNvPr id="54" name="Clock hand 1"/>
          <p:cNvSpPr/>
          <p:nvPr/>
        </p:nvSpPr>
        <p:spPr>
          <a:xfrm>
            <a:off x="10915000" y="3035000"/>
            <a:ext cx="0" cy="-135000"/>
          </a:xfrm>
          <a:prstGeom prst="line">
            <a:avLst/>
          </a:prstGeom>
          <a:noFill/>
          <a:ln w="12700">
            <a:solidFill>
              <a:srgbClr val="A8431F"/>
            </a:solidFill>
            <a:prstDash val="solid"/>
          </a:ln>
        </p:spPr>
      </p:sp>
      <p:sp>
        <p:nvSpPr>
          <p:cNvPr id="55" name="Clock hand 2"/>
          <p:cNvSpPr/>
          <p:nvPr/>
        </p:nvSpPr>
        <p:spPr>
          <a:xfrm>
            <a:off x="10915000" y="3035000"/>
            <a:ext cx="130000" cy="80000"/>
          </a:xfrm>
          <a:prstGeom prst="line">
            <a:avLst/>
          </a:prstGeom>
          <a:noFill/>
          <a:ln w="12700">
            <a:solidFill>
              <a:srgbClr val="A8431F"/>
            </a:solidFill>
            <a:prstDash val="solid"/>
          </a:ln>
        </p:spPr>
      </p:sp>
      <p:sp>
        <p:nvSpPr>
          <p:cNvPr id="56" name="Clock label"/>
          <p:cNvSpPr/>
          <p:nvPr/>
        </p:nvSpPr>
        <p:spPr>
          <a:xfrm>
            <a:off x="10480000" y="3300000"/>
            <a:ext cx="87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channels gut and brain talk 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118872" cy="1691640"/>
          </a:xfrm>
          <a:prstGeom prst="rect">
            <a:avLst/>
          </a:prstGeom>
          <a:solidFill>
            <a:srgbClr val="2F7D7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Microbial chemicals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SCFAs from fiber calm inflammation &amp; feed the brain; some microbes make GABA, dopamine, serotonin outright.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783080"/>
            <a:ext cx="118872" cy="1691640"/>
          </a:xfrm>
          <a:prstGeom prst="rect">
            <a:avLst/>
          </a:prstGeom>
          <a:solidFill>
            <a:srgbClr val="7A4B6B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stress line (HPA)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4652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hormones loosen the gut lining &amp; unsettle microbes — a vicious loop back to the brain.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657600"/>
            <a:ext cx="118872" cy="1691640"/>
          </a:xfrm>
          <a:prstGeom prst="rect">
            <a:avLst/>
          </a:prstGeom>
          <a:solidFill>
            <a:srgbClr val="5B8A4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anti-inflammatory brake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vagus dials inflammation DOWN via acetylcholine on immune cells. Low vagal tone → more inflammation.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657600"/>
            <a:ext cx="118872" cy="169164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immune wire &amp; 'leaky gut'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4652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microbes let bacterial bits into the blood, tripping the immune alarm toward the brain.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 · CHANNEL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Short-chain fatty acids: fiber → brain signals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Bacteria ferment fiber into butyrate, propionate &amp; acetate, which act on three receptors: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94560"/>
            <a:ext cx="118872" cy="1691640"/>
          </a:xfrm>
          <a:prstGeom prst="rect">
            <a:avLst/>
          </a:prstGeom>
          <a:solidFill>
            <a:srgbClr val="2F7D7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4086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FFAR2 (GPR43)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76148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gut endocrine &amp; immune cells — triggers GLP-1 &amp; PYY release (the appetite hormones).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219456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2194560"/>
            <a:ext cx="118872" cy="169164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34086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FFAR3 (GPR41)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46520" y="276148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enteric, vagal, dorsal-root &amp; sympathetic neurons — a direct neural sensor of microbial activity.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4069080"/>
            <a:ext cx="118872" cy="1691640"/>
          </a:xfrm>
          <a:prstGeom prst="rect">
            <a:avLst/>
          </a:prstGeom>
          <a:solidFill>
            <a:srgbClr val="7A4B6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215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GPR109a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22960" y="4636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colon epithelium &amp; immune cells — part of the anti-inflammatory tone.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2200" y="4069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4069080"/>
            <a:ext cx="118872" cy="1691640"/>
          </a:xfrm>
          <a:prstGeom prst="rect">
            <a:avLst/>
          </a:prstGeom>
          <a:solidFill>
            <a:srgbClr val="5B8A4F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4215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Butyrate's day job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446520" y="4636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an HDAC inhibitor — changes gene expression, calms microglia, and SCFAs help seal the blood–brain barrier.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 · CHANNEL 1 (DETAIL)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amino acid, three fates: tryptophan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108960"/>
                <a:gridCol w="5212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B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6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the brain cares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65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5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Serotonin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5-HT (TPH1/TPH2)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~95% of body serotonin; tunes vagus &amp; ENS (doesn't cross BBB)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5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Kynurenine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Kynurenic vs quinolinic acid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Inflammation (IDO) tips the balance toward the NEUROTOXIC side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5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Indole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Indole-3-aldehyde, tryptamine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Activate AhR → IL-22 → barrier integrity &amp; BBB upkeep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48056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CF4E3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45720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idea: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inflammation flips tryptophan from making calming serotonin to making neurotoxic quinolinic acid — a direct chemical link from gut inflammation to mood.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 · CHANNELS 2–4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Stress, the brake, and leaky gut — in detail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118872" cy="1691640"/>
          </a:xfrm>
          <a:prstGeom prst="rect">
            <a:avLst/>
          </a:prstGeom>
          <a:solidFill>
            <a:srgbClr val="7A4B6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stress axis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CRF from the brain raises gut permeability &amp; dysbiosis. CRF-R1 speeds the colon (stress diarrhea); CRF-R2 slows the stomach. Germ-free mice over-react to stress until colonized.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783080"/>
            <a:ext cx="118872" cy="1691640"/>
          </a:xfrm>
          <a:prstGeom prst="rect">
            <a:avLst/>
          </a:prstGeom>
          <a:solidFill>
            <a:srgbClr val="5B8A4F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Cholinergic brake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4652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Vagus → acetylcholine → α7nAChR on macrophages → shuts off TNF-α. A splenic relay extends it. Low vagal tone shows up in IBD &amp; IBS.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657600"/>
            <a:ext cx="118872" cy="169164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Leaky gut → brain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LPS &amp; peptidoglycan cross into blood → TLR4/NF-κB → IL-1β, IL-6, TNF-α reach the brain. Microbes even train microglia (immature in germ-free mice).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657600"/>
            <a:ext cx="118872" cy="1691640"/>
          </a:xfrm>
          <a:prstGeom prst="rect">
            <a:avLst/>
          </a:prstGeom>
          <a:solidFill>
            <a:srgbClr val="2F7D77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Bravo 2011 — the proof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4652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probiotic strain changed brain GABA receptors &amp; reduced anxiety in mice — abolished by cutting the vagus. The cleanest proof microbes signal THROUGH the vagus.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MICROBIOME–GUT–BRAIN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what you eat, to messengers, to molecular keys</a:t>
            </a:r>
            <a:endParaRPr lang="en-US" sz="3000" dirty="0"/>
          </a:p>
        </p:txBody>
      </p:sp>
      <p:sp>
        <p:nvSpPr>
          <p:cNvPr id="40" name="Panel A"/>
          <p:cNvSpPr/>
          <p:nvPr/>
        </p:nvSpPr>
        <p:spPr>
          <a:xfrm>
            <a:off x="548640" y="1783080"/>
            <a:ext cx="3520440" cy="4114800"/>
          </a:xfrm>
          <a:prstGeom prst="roundRect">
            <a:avLst/>
          </a:prstGeom>
          <a:solidFill>
            <a:srgbClr val="FCF4E3"/>
          </a:solidFill>
          <a:ln w="12700">
            <a:solidFill>
              <a:srgbClr val="E7DDD1"/>
            </a:solidFill>
            <a:prstDash val="solid"/>
          </a:ln>
        </p:spPr>
      </p:sp>
      <p:sp>
        <p:nvSpPr>
          <p:cNvPr id="41" name="Panel B"/>
          <p:cNvSpPr/>
          <p:nvPr/>
        </p:nvSpPr>
        <p:spPr>
          <a:xfrm>
            <a:off x="4297680" y="1783080"/>
            <a:ext cx="3566160" cy="4114800"/>
          </a:xfrm>
          <a:prstGeom prst="roundRect">
            <a:avLst/>
          </a:prstGeom>
          <a:solidFill>
            <a:srgbClr val="E3EFEE"/>
          </a:solidFill>
          <a:ln w="12700">
            <a:solidFill>
              <a:srgbClr val="E7DDD1"/>
            </a:solidFill>
            <a:prstDash val="solid"/>
          </a:ln>
        </p:spPr>
      </p:sp>
      <p:sp>
        <p:nvSpPr>
          <p:cNvPr id="42" name="Panel C"/>
          <p:cNvSpPr/>
          <p:nvPr/>
        </p:nvSpPr>
        <p:spPr>
          <a:xfrm>
            <a:off x="8092440" y="1783080"/>
            <a:ext cx="3520440" cy="4114800"/>
          </a:xfrm>
          <a:prstGeom prst="roundRect">
            <a:avLst/>
          </a:prstGeom>
          <a:solidFill>
            <a:srgbClr val="F7E3DA"/>
          </a:solidFill>
          <a:ln w="12700">
            <a:solidFill>
              <a:srgbClr val="E7DDD1"/>
            </a:solidFill>
            <a:prstDash val="solid"/>
          </a:ln>
        </p:spPr>
      </p:sp>
      <p:sp>
        <p:nvSpPr>
          <p:cNvPr id="43" name="Panel A title"/>
          <p:cNvSpPr/>
          <p:nvPr/>
        </p:nvSpPr>
        <p:spPr>
          <a:xfrm>
            <a:off x="731520" y="1930000"/>
            <a:ext cx="315468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shapes your microbiome</a:t>
            </a:r>
            <a:endParaRPr lang="en-US" sz="1250" dirty="0"/>
          </a:p>
        </p:txBody>
      </p:sp>
      <p:sp>
        <p:nvSpPr>
          <p:cNvPr id="44" name="Input 1"/>
          <p:cNvSpPr/>
          <p:nvPr/>
        </p:nvSpPr>
        <p:spPr>
          <a:xfrm>
            <a:off x="860000" y="2470000"/>
            <a:ext cx="1220000" cy="300000"/>
          </a:xfrm>
          <a:prstGeom prst="roundRect">
            <a:avLst/>
          </a:prstGeom>
          <a:solidFill>
            <a:srgbClr val="FFFDFA"/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45" name="Input label 1"/>
          <p:cNvSpPr/>
          <p:nvPr/>
        </p:nvSpPr>
        <p:spPr>
          <a:xfrm>
            <a:off x="925000" y="2521000"/>
            <a:ext cx="109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 &amp; fiber</a:t>
            </a:r>
            <a:endParaRPr lang="en-US" sz="900" dirty="0"/>
          </a:p>
        </p:txBody>
      </p:sp>
      <p:sp>
        <p:nvSpPr>
          <p:cNvPr id="46" name="Input 2"/>
          <p:cNvSpPr/>
          <p:nvPr/>
        </p:nvSpPr>
        <p:spPr>
          <a:xfrm>
            <a:off x="2360000" y="2470000"/>
            <a:ext cx="1220000" cy="300000"/>
          </a:xfrm>
          <a:prstGeom prst="roundRect">
            <a:avLst/>
          </a:prstGeom>
          <a:solidFill>
            <a:srgbClr val="FFFDFA"/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47" name="Input label 2"/>
          <p:cNvSpPr/>
          <p:nvPr/>
        </p:nvSpPr>
        <p:spPr>
          <a:xfrm>
            <a:off x="2425000" y="2521000"/>
            <a:ext cx="109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&amp; age</a:t>
            </a:r>
            <a:endParaRPr lang="en-US" sz="900" dirty="0"/>
          </a:p>
        </p:txBody>
      </p:sp>
      <p:sp>
        <p:nvSpPr>
          <p:cNvPr id="48" name="Input 3"/>
          <p:cNvSpPr/>
          <p:nvPr/>
        </p:nvSpPr>
        <p:spPr>
          <a:xfrm>
            <a:off x="860000" y="2890000"/>
            <a:ext cx="1220000" cy="300000"/>
          </a:xfrm>
          <a:prstGeom prst="roundRect">
            <a:avLst/>
          </a:prstGeom>
          <a:solidFill>
            <a:srgbClr val="FFFDFA"/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49" name="Input label 3"/>
          <p:cNvSpPr/>
          <p:nvPr/>
        </p:nvSpPr>
        <p:spPr>
          <a:xfrm>
            <a:off x="925000" y="2941000"/>
            <a:ext cx="109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Antibiotics</a:t>
            </a:r>
            <a:endParaRPr lang="en-US" sz="900" dirty="0"/>
          </a:p>
        </p:txBody>
      </p:sp>
      <p:sp>
        <p:nvSpPr>
          <p:cNvPr id="50" name="Input 4"/>
          <p:cNvSpPr/>
          <p:nvPr/>
        </p:nvSpPr>
        <p:spPr>
          <a:xfrm>
            <a:off x="2360000" y="2890000"/>
            <a:ext cx="1220000" cy="300000"/>
          </a:xfrm>
          <a:prstGeom prst="roundRect">
            <a:avLst/>
          </a:prstGeom>
          <a:solidFill>
            <a:srgbClr val="FFFDFA"/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51" name="Input label 4"/>
          <p:cNvSpPr/>
          <p:nvPr/>
        </p:nvSpPr>
        <p:spPr>
          <a:xfrm>
            <a:off x="2425000" y="2941000"/>
            <a:ext cx="109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900" dirty="0"/>
          </a:p>
        </p:txBody>
      </p:sp>
      <p:sp>
        <p:nvSpPr>
          <p:cNvPr id="52" name="Input 5"/>
          <p:cNvSpPr/>
          <p:nvPr/>
        </p:nvSpPr>
        <p:spPr>
          <a:xfrm>
            <a:off x="860000" y="3310000"/>
            <a:ext cx="1220000" cy="300000"/>
          </a:xfrm>
          <a:prstGeom prst="roundRect">
            <a:avLst/>
          </a:prstGeom>
          <a:solidFill>
            <a:srgbClr val="FFFDFA"/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53" name="Input label 5"/>
          <p:cNvSpPr/>
          <p:nvPr/>
        </p:nvSpPr>
        <p:spPr>
          <a:xfrm>
            <a:off x="925000" y="3361000"/>
            <a:ext cx="109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 mode</a:t>
            </a:r>
            <a:endParaRPr lang="en-US" sz="900" dirty="0"/>
          </a:p>
        </p:txBody>
      </p:sp>
      <p:sp>
        <p:nvSpPr>
          <p:cNvPr id="54" name="Input 6"/>
          <p:cNvSpPr/>
          <p:nvPr/>
        </p:nvSpPr>
        <p:spPr>
          <a:xfrm>
            <a:off x="2360000" y="3310000"/>
            <a:ext cx="1220000" cy="300000"/>
          </a:xfrm>
          <a:prstGeom prst="roundRect">
            <a:avLst/>
          </a:prstGeom>
          <a:solidFill>
            <a:srgbClr val="FFFDFA"/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55" name="Input label 6"/>
          <p:cNvSpPr/>
          <p:nvPr/>
        </p:nvSpPr>
        <p:spPr>
          <a:xfrm>
            <a:off x="2425000" y="3361000"/>
            <a:ext cx="109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· place</a:t>
            </a:r>
            <a:endParaRPr lang="en-US" sz="900" dirty="0"/>
          </a:p>
        </p:txBody>
      </p:sp>
      <p:sp>
        <p:nvSpPr>
          <p:cNvPr id="56" name="Microbe dish"/>
          <p:cNvSpPr/>
          <p:nvPr/>
        </p:nvSpPr>
        <p:spPr>
          <a:xfrm>
            <a:off x="1417320" y="4310000"/>
            <a:ext cx="1783080" cy="1120000"/>
          </a:xfrm>
          <a:prstGeom prst="ellipse">
            <a:avLst/>
          </a:prstGeom>
          <a:solidFill>
            <a:srgbClr val="FFFDFA"/>
          </a:solidFill>
          <a:ln w="19050">
            <a:solidFill>
              <a:srgbClr val="D9A441"/>
            </a:solidFill>
            <a:prstDash val="solid"/>
          </a:ln>
        </p:spPr>
      </p:sp>
      <p:sp>
        <p:nvSpPr>
          <p:cNvPr id="57" name="Microbe dot 1"/>
          <p:cNvSpPr/>
          <p:nvPr/>
        </p:nvSpPr>
        <p:spPr>
          <a:xfrm>
            <a:off x="1660000" y="4550000"/>
            <a:ext cx="120000" cy="120000"/>
          </a:xfrm>
          <a:prstGeom prst="ellipse">
            <a:avLst/>
          </a:prstGeom>
          <a:solidFill>
            <a:srgbClr val="2F7D77"/>
          </a:solidFill>
          <a:ln/>
        </p:spPr>
      </p:sp>
      <p:sp>
        <p:nvSpPr>
          <p:cNvPr id="58" name="Microbe dot 2"/>
          <p:cNvSpPr/>
          <p:nvPr/>
        </p:nvSpPr>
        <p:spPr>
          <a:xfrm>
            <a:off x="2020000" y="4550000"/>
            <a:ext cx="120000" cy="120000"/>
          </a:xfrm>
          <a:prstGeom prst="ellipse">
            <a:avLst/>
          </a:prstGeom>
          <a:solidFill>
            <a:srgbClr val="D2603A"/>
          </a:solidFill>
          <a:ln/>
        </p:spPr>
      </p:sp>
      <p:sp>
        <p:nvSpPr>
          <p:cNvPr id="59" name="Microbe dot 3"/>
          <p:cNvSpPr/>
          <p:nvPr/>
        </p:nvSpPr>
        <p:spPr>
          <a:xfrm>
            <a:off x="2380000" y="4550000"/>
            <a:ext cx="120000" cy="120000"/>
          </a:xfrm>
          <a:prstGeom prst="ellipse">
            <a:avLst/>
          </a:prstGeom>
          <a:solidFill>
            <a:srgbClr val="5B8A4F"/>
          </a:solidFill>
          <a:ln/>
        </p:spPr>
      </p:sp>
      <p:sp>
        <p:nvSpPr>
          <p:cNvPr id="60" name="Microbe dot 4"/>
          <p:cNvSpPr/>
          <p:nvPr/>
        </p:nvSpPr>
        <p:spPr>
          <a:xfrm>
            <a:off x="1660000" y="4780000"/>
            <a:ext cx="120000" cy="1200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61" name="Microbe dot 5"/>
          <p:cNvSpPr/>
          <p:nvPr/>
        </p:nvSpPr>
        <p:spPr>
          <a:xfrm>
            <a:off x="2020000" y="4780000"/>
            <a:ext cx="120000" cy="120000"/>
          </a:xfrm>
          <a:prstGeom prst="ellipse">
            <a:avLst/>
          </a:prstGeom>
          <a:solidFill>
            <a:srgbClr val="2F7D77"/>
          </a:solidFill>
          <a:ln/>
        </p:spPr>
      </p:sp>
      <p:sp>
        <p:nvSpPr>
          <p:cNvPr id="62" name="Microbe dot 6"/>
          <p:cNvSpPr/>
          <p:nvPr/>
        </p:nvSpPr>
        <p:spPr>
          <a:xfrm>
            <a:off x="2380000" y="4780000"/>
            <a:ext cx="120000" cy="120000"/>
          </a:xfrm>
          <a:prstGeom prst="ellipse">
            <a:avLst/>
          </a:prstGeom>
          <a:solidFill>
            <a:srgbClr val="D2603A"/>
          </a:solidFill>
          <a:ln/>
        </p:spPr>
      </p:sp>
      <p:sp>
        <p:nvSpPr>
          <p:cNvPr id="63" name="Microbe dot 7"/>
          <p:cNvSpPr/>
          <p:nvPr/>
        </p:nvSpPr>
        <p:spPr>
          <a:xfrm>
            <a:off x="1660000" y="5010000"/>
            <a:ext cx="120000" cy="120000"/>
          </a:xfrm>
          <a:prstGeom prst="ellipse">
            <a:avLst/>
          </a:prstGeom>
          <a:solidFill>
            <a:srgbClr val="5B8A4F"/>
          </a:solidFill>
          <a:ln/>
        </p:spPr>
      </p:sp>
      <p:sp>
        <p:nvSpPr>
          <p:cNvPr id="64" name="Microbe dot 8"/>
          <p:cNvSpPr/>
          <p:nvPr/>
        </p:nvSpPr>
        <p:spPr>
          <a:xfrm>
            <a:off x="2020000" y="5010000"/>
            <a:ext cx="120000" cy="1200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65" name="Microbe dot 9"/>
          <p:cNvSpPr/>
          <p:nvPr/>
        </p:nvSpPr>
        <p:spPr>
          <a:xfrm>
            <a:off x="2380000" y="5010000"/>
            <a:ext cx="120000" cy="120000"/>
          </a:xfrm>
          <a:prstGeom prst="ellipse">
            <a:avLst/>
          </a:prstGeom>
          <a:solidFill>
            <a:srgbClr val="2F7D77"/>
          </a:solidFill>
          <a:ln/>
        </p:spPr>
      </p:sp>
      <p:sp>
        <p:nvSpPr>
          <p:cNvPr id="66" name="Microbe label"/>
          <p:cNvSpPr/>
          <p:nvPr/>
        </p:nvSpPr>
        <p:spPr>
          <a:xfrm>
            <a:off x="1325880" y="5340000"/>
            <a:ext cx="196596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~38T microbes</a:t>
            </a:r>
            <a:endParaRPr lang="en-US" sz="1050" dirty="0"/>
          </a:p>
        </p:txBody>
      </p:sp>
      <p:sp>
        <p:nvSpPr>
          <p:cNvPr id="67" name="Panel B title"/>
          <p:cNvSpPr/>
          <p:nvPr/>
        </p:nvSpPr>
        <p:spPr>
          <a:xfrm>
            <a:off x="4480560" y="1930000"/>
            <a:ext cx="32004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5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reach the brain</a:t>
            </a:r>
            <a:endParaRPr lang="en-US" sz="1250" dirty="0"/>
          </a:p>
        </p:txBody>
      </p:sp>
      <p:sp>
        <p:nvSpPr>
          <p:cNvPr id="68" name="Brain"/>
          <p:cNvSpPr/>
          <p:nvPr/>
        </p:nvSpPr>
        <p:spPr>
          <a:xfrm>
            <a:off x="5486400" y="2310000"/>
            <a:ext cx="1188720" cy="914400"/>
          </a:xfrm>
          <a:prstGeom prst="cloud">
            <a:avLst/>
          </a:prstGeom>
          <a:solidFill>
            <a:srgbClr val="F7E3DA"/>
          </a:solidFill>
          <a:ln w="19050">
            <a:solidFill>
              <a:srgbClr val="A8431F"/>
            </a:solidFill>
            <a:prstDash val="solid"/>
          </a:ln>
        </p:spPr>
      </p:sp>
      <p:sp>
        <p:nvSpPr>
          <p:cNvPr id="69" name="Brain text"/>
          <p:cNvSpPr/>
          <p:nvPr/>
        </p:nvSpPr>
        <p:spPr>
          <a:xfrm>
            <a:off x="5486400" y="2600000"/>
            <a:ext cx="118872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</a:t>
            </a:r>
            <a:endParaRPr lang="en-US" sz="1050" dirty="0"/>
          </a:p>
        </p:txBody>
      </p:sp>
      <p:sp>
        <p:nvSpPr>
          <p:cNvPr id="70" name="Lane HPA · stress"/>
          <p:cNvSpPr/>
          <p:nvPr/>
        </p:nvSpPr>
        <p:spPr>
          <a:xfrm>
            <a:off x="4526280" y="3480000"/>
            <a:ext cx="3108960" cy="330000"/>
          </a:xfrm>
          <a:prstGeom prst="roundRect">
            <a:avLst/>
          </a:prstGeom>
          <a:solidFill>
            <a:srgbClr val="7A4B6B"/>
          </a:solidFill>
          <a:ln w="9525">
            <a:solidFill>
              <a:srgbClr val="7A4B6B"/>
            </a:solidFill>
            <a:prstDash val="solid"/>
          </a:ln>
        </p:spPr>
      </p:sp>
      <p:sp>
        <p:nvSpPr>
          <p:cNvPr id="71" name="Lane text HPA · stress"/>
          <p:cNvSpPr/>
          <p:nvPr/>
        </p:nvSpPr>
        <p:spPr>
          <a:xfrm>
            <a:off x="4526280" y="3529000"/>
            <a:ext cx="310896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· stress</a:t>
            </a:r>
            <a:endParaRPr lang="en-US" sz="1000" dirty="0"/>
          </a:p>
        </p:txBody>
      </p:sp>
      <p:sp>
        <p:nvSpPr>
          <p:cNvPr id="72" name="Lane arrow HPA · stress"/>
          <p:cNvSpPr/>
          <p:nvPr/>
        </p:nvSpPr>
        <p:spPr>
          <a:xfrm>
            <a:off x="6100000" y="3480000"/>
            <a:ext cx="-360000" cy="-800000"/>
          </a:xfrm>
          <a:prstGeom prst="line">
            <a:avLst/>
          </a:prstGeom>
          <a:noFill/>
          <a:ln w="15240">
            <a:solidFill>
              <a:srgbClr val="1F5651">
                <a:alpha val="56000"/>
              </a:srgbClr>
            </a:solidFill>
            <a:prstDash val="solid"/>
            <a:headEnd type="triangle"/>
          </a:ln>
        </p:spPr>
      </p:sp>
      <p:sp>
        <p:nvSpPr>
          <p:cNvPr id="73" name="Lane vagus nerve"/>
          <p:cNvSpPr/>
          <p:nvPr/>
        </p:nvSpPr>
        <p:spPr>
          <a:xfrm>
            <a:off x="4526280" y="3930000"/>
            <a:ext cx="3108960" cy="330000"/>
          </a:xfrm>
          <a:prstGeom prst="roundRect">
            <a:avLst/>
          </a:prstGeom>
          <a:solidFill>
            <a:srgbClr val="2F7D77"/>
          </a:solidFill>
          <a:ln w="9525">
            <a:solidFill>
              <a:srgbClr val="2F7D77"/>
            </a:solidFill>
            <a:prstDash val="solid"/>
          </a:ln>
        </p:spPr>
      </p:sp>
      <p:sp>
        <p:nvSpPr>
          <p:cNvPr id="74" name="Lane text vagus nerve"/>
          <p:cNvSpPr/>
          <p:nvPr/>
        </p:nvSpPr>
        <p:spPr>
          <a:xfrm>
            <a:off x="4526280" y="3979000"/>
            <a:ext cx="310896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vagus nerve</a:t>
            </a:r>
            <a:endParaRPr lang="en-US" sz="1000" dirty="0"/>
          </a:p>
        </p:txBody>
      </p:sp>
      <p:sp>
        <p:nvSpPr>
          <p:cNvPr id="75" name="Lane arrow vagus nerve"/>
          <p:cNvSpPr/>
          <p:nvPr/>
        </p:nvSpPr>
        <p:spPr>
          <a:xfrm>
            <a:off x="6100000" y="3930000"/>
            <a:ext cx="-360000" cy="-1010000"/>
          </a:xfrm>
          <a:prstGeom prst="line">
            <a:avLst/>
          </a:prstGeom>
          <a:noFill/>
          <a:ln w="15240">
            <a:solidFill>
              <a:srgbClr val="1F5651">
                <a:alpha val="56000"/>
              </a:srgbClr>
            </a:solidFill>
            <a:prstDash val="solid"/>
            <a:headEnd type="triangle"/>
          </a:ln>
        </p:spPr>
      </p:sp>
      <p:sp>
        <p:nvSpPr>
          <p:cNvPr id="76" name="Lane immune cells"/>
          <p:cNvSpPr/>
          <p:nvPr/>
        </p:nvSpPr>
        <p:spPr>
          <a:xfrm>
            <a:off x="4526280" y="4380000"/>
            <a:ext cx="3108960" cy="330000"/>
          </a:xfrm>
          <a:prstGeom prst="roundRect">
            <a:avLst/>
          </a:prstGeom>
          <a:solidFill>
            <a:srgbClr val="5B8A4F"/>
          </a:solidFill>
          <a:ln w="9525">
            <a:solidFill>
              <a:srgbClr val="5B8A4F"/>
            </a:solidFill>
            <a:prstDash val="solid"/>
          </a:ln>
        </p:spPr>
      </p:sp>
      <p:sp>
        <p:nvSpPr>
          <p:cNvPr id="77" name="Lane text immune cells"/>
          <p:cNvSpPr/>
          <p:nvPr/>
        </p:nvSpPr>
        <p:spPr>
          <a:xfrm>
            <a:off x="4526280" y="4429000"/>
            <a:ext cx="310896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 cells</a:t>
            </a:r>
            <a:endParaRPr lang="en-US" sz="1000" dirty="0"/>
          </a:p>
        </p:txBody>
      </p:sp>
      <p:sp>
        <p:nvSpPr>
          <p:cNvPr id="78" name="Lane arrow immune cells"/>
          <p:cNvSpPr/>
          <p:nvPr/>
        </p:nvSpPr>
        <p:spPr>
          <a:xfrm>
            <a:off x="6100000" y="4380000"/>
            <a:ext cx="-360000" cy="-1220000"/>
          </a:xfrm>
          <a:prstGeom prst="line">
            <a:avLst/>
          </a:prstGeom>
          <a:noFill/>
          <a:ln w="15240">
            <a:solidFill>
              <a:srgbClr val="1F5651">
                <a:alpha val="56000"/>
              </a:srgbClr>
            </a:solidFill>
            <a:prstDash val="solid"/>
            <a:headEnd type="triangle"/>
          </a:ln>
        </p:spPr>
      </p:sp>
      <p:sp>
        <p:nvSpPr>
          <p:cNvPr id="79" name="Lane gut hormones"/>
          <p:cNvSpPr/>
          <p:nvPr/>
        </p:nvSpPr>
        <p:spPr>
          <a:xfrm>
            <a:off x="4526280" y="4830000"/>
            <a:ext cx="3108960" cy="330000"/>
          </a:xfrm>
          <a:prstGeom prst="roundRect">
            <a:avLst/>
          </a:prstGeom>
          <a:solidFill>
            <a:srgbClr val="D2603A"/>
          </a:solidFill>
          <a:ln w="9525">
            <a:solidFill>
              <a:srgbClr val="D2603A"/>
            </a:solidFill>
            <a:prstDash val="solid"/>
          </a:ln>
        </p:spPr>
      </p:sp>
      <p:sp>
        <p:nvSpPr>
          <p:cNvPr id="80" name="Lane text gut hormones"/>
          <p:cNvSpPr/>
          <p:nvPr/>
        </p:nvSpPr>
        <p:spPr>
          <a:xfrm>
            <a:off x="4526280" y="4879000"/>
            <a:ext cx="310896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 hormones</a:t>
            </a:r>
            <a:endParaRPr lang="en-US" sz="1000" dirty="0"/>
          </a:p>
        </p:txBody>
      </p:sp>
      <p:sp>
        <p:nvSpPr>
          <p:cNvPr id="81" name="Lane arrow gut hormones"/>
          <p:cNvSpPr/>
          <p:nvPr/>
        </p:nvSpPr>
        <p:spPr>
          <a:xfrm>
            <a:off x="6100000" y="4830000"/>
            <a:ext cx="-360000" cy="-1430000"/>
          </a:xfrm>
          <a:prstGeom prst="line">
            <a:avLst/>
          </a:prstGeom>
          <a:noFill/>
          <a:ln w="15240">
            <a:solidFill>
              <a:srgbClr val="1F5651">
                <a:alpha val="56000"/>
              </a:srgbClr>
            </a:solidFill>
            <a:prstDash val="solid"/>
            <a:headEnd type="triangle"/>
          </a:ln>
        </p:spPr>
      </p:sp>
      <p:sp>
        <p:nvSpPr>
          <p:cNvPr id="82" name="Panel C title"/>
          <p:cNvSpPr/>
          <p:nvPr/>
        </p:nvSpPr>
        <p:spPr>
          <a:xfrm>
            <a:off x="8275320" y="1930000"/>
            <a:ext cx="315468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molecular keys</a:t>
            </a:r>
            <a:endParaRPr lang="en-US" sz="1250" dirty="0"/>
          </a:p>
        </p:txBody>
      </p:sp>
      <p:sp>
        <p:nvSpPr>
          <p:cNvPr id="83" name="Key card 1"/>
          <p:cNvSpPr/>
          <p:nvPr/>
        </p:nvSpPr>
        <p:spPr>
          <a:xfrm>
            <a:off x="8240000" y="2420000"/>
            <a:ext cx="3220000" cy="840000"/>
          </a:xfrm>
          <a:prstGeom prst="roundRect">
            <a:avLst/>
          </a:prstGeom>
          <a:solidFill>
            <a:srgbClr val="FFFDFA"/>
          </a:solidFill>
          <a:ln w="12700">
            <a:solidFill>
              <a:srgbClr val="A8431F"/>
            </a:solidFill>
            <a:prstDash val="dash"/>
          </a:ln>
        </p:spPr>
      </p:sp>
      <p:sp>
        <p:nvSpPr>
          <p:cNvPr id="84" name="SCFA squiggle 1"/>
          <p:cNvSpPr/>
          <p:nvPr/>
        </p:nvSpPr>
        <p:spPr>
          <a:xfrm>
            <a:off x="8420000" y="2940000"/>
            <a:ext cx="260000" cy="-16000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85" name="SCFA squiggle 2"/>
          <p:cNvSpPr/>
          <p:nvPr/>
        </p:nvSpPr>
        <p:spPr>
          <a:xfrm>
            <a:off x="8680000" y="2780000"/>
            <a:ext cx="260000" cy="16000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86" name="SCFA end"/>
          <p:cNvSpPr/>
          <p:nvPr/>
        </p:nvSpPr>
        <p:spPr>
          <a:xfrm>
            <a:off x="8950000" y="2900000"/>
            <a:ext cx="80000" cy="800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7" name="Key title 1"/>
          <p:cNvSpPr/>
          <p:nvPr/>
        </p:nvSpPr>
        <p:spPr>
          <a:xfrm>
            <a:off x="9140000" y="2580000"/>
            <a:ext cx="21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Short-chain fatty acids</a:t>
            </a:r>
            <a:endParaRPr lang="en-US" sz="1000" dirty="0"/>
          </a:p>
        </p:txBody>
      </p:sp>
      <p:sp>
        <p:nvSpPr>
          <p:cNvPr id="88" name="Key sub 1"/>
          <p:cNvSpPr/>
          <p:nvPr/>
        </p:nvSpPr>
        <p:spPr>
          <a:xfrm>
            <a:off x="9140000" y="2870000"/>
            <a:ext cx="21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→ anti-inflammatory brain fuel</a:t>
            </a:r>
            <a:endParaRPr lang="en-US" sz="850" dirty="0"/>
          </a:p>
        </p:txBody>
      </p:sp>
      <p:sp>
        <p:nvSpPr>
          <p:cNvPr id="89" name="Key card 2"/>
          <p:cNvSpPr/>
          <p:nvPr/>
        </p:nvSpPr>
        <p:spPr>
          <a:xfrm>
            <a:off x="8240000" y="3470000"/>
            <a:ext cx="3220000" cy="840000"/>
          </a:xfrm>
          <a:prstGeom prst="roundRect">
            <a:avLst/>
          </a:prstGeom>
          <a:solidFill>
            <a:srgbClr val="FFFDFA"/>
          </a:solidFill>
          <a:ln w="12700">
            <a:solidFill>
              <a:srgbClr val="A8431F"/>
            </a:solidFill>
            <a:prstDash val="dash"/>
          </a:ln>
        </p:spPr>
      </p:sp>
      <p:sp>
        <p:nvSpPr>
          <p:cNvPr id="90" name="Indole ring 1"/>
          <p:cNvSpPr/>
          <p:nvPr/>
        </p:nvSpPr>
        <p:spPr>
          <a:xfrm>
            <a:off x="8460000" y="3830000"/>
            <a:ext cx="260000" cy="260000"/>
          </a:xfrm>
          <a:prstGeom prst="hexagon">
            <a:avLst/>
          </a:prstGeom>
          <a:noFill/>
          <a:ln w="19050">
            <a:solidFill>
              <a:srgbClr val="7A4B6B"/>
            </a:solidFill>
            <a:prstDash val="solid"/>
          </a:ln>
        </p:spPr>
      </p:sp>
      <p:sp>
        <p:nvSpPr>
          <p:cNvPr id="91" name="Indole ring 2"/>
          <p:cNvSpPr/>
          <p:nvPr/>
        </p:nvSpPr>
        <p:spPr>
          <a:xfrm>
            <a:off x="8700000" y="3840000"/>
            <a:ext cx="230000" cy="230000"/>
          </a:xfrm>
          <a:prstGeom prst="pentagon">
            <a:avLst/>
          </a:prstGeom>
          <a:noFill/>
          <a:ln w="19050">
            <a:solidFill>
              <a:srgbClr val="7A4B6B"/>
            </a:solidFill>
            <a:prstDash val="solid"/>
          </a:ln>
        </p:spPr>
      </p:sp>
      <p:sp>
        <p:nvSpPr>
          <p:cNvPr id="92" name="Key title 2"/>
          <p:cNvSpPr/>
          <p:nvPr/>
        </p:nvSpPr>
        <p:spPr>
          <a:xfrm>
            <a:off x="9140000" y="3630000"/>
            <a:ext cx="21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Tryptophan &amp; indoles</a:t>
            </a:r>
            <a:endParaRPr lang="en-US" sz="1000" dirty="0"/>
          </a:p>
        </p:txBody>
      </p:sp>
      <p:sp>
        <p:nvSpPr>
          <p:cNvPr id="93" name="Key sub 2"/>
          <p:cNvSpPr/>
          <p:nvPr/>
        </p:nvSpPr>
        <p:spPr>
          <a:xfrm>
            <a:off x="9140000" y="3920000"/>
            <a:ext cx="21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serotonin's raw material; calm vs irritate</a:t>
            </a:r>
            <a:endParaRPr lang="en-US" sz="850" dirty="0"/>
          </a:p>
        </p:txBody>
      </p:sp>
      <p:sp>
        <p:nvSpPr>
          <p:cNvPr id="94" name="Key card 3"/>
          <p:cNvSpPr/>
          <p:nvPr/>
        </p:nvSpPr>
        <p:spPr>
          <a:xfrm>
            <a:off x="8240000" y="4520000"/>
            <a:ext cx="3220000" cy="840000"/>
          </a:xfrm>
          <a:prstGeom prst="roundRect">
            <a:avLst/>
          </a:prstGeom>
          <a:solidFill>
            <a:srgbClr val="FFFDFA"/>
          </a:solidFill>
          <a:ln w="12700">
            <a:solidFill>
              <a:srgbClr val="A8431F"/>
            </a:solidFill>
            <a:prstDash val="dash"/>
          </a:ln>
        </p:spPr>
      </p:sp>
      <p:sp>
        <p:nvSpPr>
          <p:cNvPr id="95" name="Bile ring 1"/>
          <p:cNvSpPr/>
          <p:nvPr/>
        </p:nvSpPr>
        <p:spPr>
          <a:xfrm>
            <a:off x="8440000" y="4860000"/>
            <a:ext cx="245000" cy="245000"/>
          </a:xfrm>
          <a:prstGeom prst="hexagon">
            <a:avLst/>
          </a:prstGeom>
          <a:noFill/>
          <a:ln w="19050">
            <a:solidFill>
              <a:srgbClr val="5B8A4F"/>
            </a:solidFill>
            <a:prstDash val="solid"/>
          </a:ln>
        </p:spPr>
      </p:sp>
      <p:sp>
        <p:nvSpPr>
          <p:cNvPr id="96" name="Bile ring 2"/>
          <p:cNvSpPr/>
          <p:nvPr/>
        </p:nvSpPr>
        <p:spPr>
          <a:xfrm>
            <a:off x="8660000" y="4860000"/>
            <a:ext cx="245000" cy="245000"/>
          </a:xfrm>
          <a:prstGeom prst="hexagon">
            <a:avLst/>
          </a:prstGeom>
          <a:noFill/>
          <a:ln w="19050">
            <a:solidFill>
              <a:srgbClr val="5B8A4F"/>
            </a:solidFill>
            <a:prstDash val="solid"/>
          </a:ln>
        </p:spPr>
      </p:sp>
      <p:sp>
        <p:nvSpPr>
          <p:cNvPr id="97" name="Bile ring 3"/>
          <p:cNvSpPr/>
          <p:nvPr/>
        </p:nvSpPr>
        <p:spPr>
          <a:xfrm>
            <a:off x="8880000" y="4940000"/>
            <a:ext cx="210000" cy="210000"/>
          </a:xfrm>
          <a:prstGeom prst="pentagon">
            <a:avLst/>
          </a:prstGeom>
          <a:noFill/>
          <a:ln w="19050">
            <a:solidFill>
              <a:srgbClr val="5B8A4F"/>
            </a:solidFill>
            <a:prstDash val="solid"/>
          </a:ln>
        </p:spPr>
      </p:sp>
      <p:sp>
        <p:nvSpPr>
          <p:cNvPr id="98" name="Key title 3"/>
          <p:cNvSpPr/>
          <p:nvPr/>
        </p:nvSpPr>
        <p:spPr>
          <a:xfrm>
            <a:off x="9140000" y="4680000"/>
            <a:ext cx="21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Bile acids</a:t>
            </a:r>
            <a:endParaRPr lang="en-US" sz="1000" dirty="0"/>
          </a:p>
        </p:txBody>
      </p:sp>
      <p:sp>
        <p:nvSpPr>
          <p:cNvPr id="99" name="Key sub 3"/>
          <p:cNvSpPr/>
          <p:nvPr/>
        </p:nvSpPr>
        <p:spPr>
          <a:xfrm>
            <a:off x="9140000" y="4970000"/>
            <a:ext cx="21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microbe-modified; trigger GLP-1</a:t>
            </a:r>
            <a:endParaRPr lang="en-US" sz="850" dirty="0"/>
          </a:p>
        </p:txBody>
      </p:sp>
      <p:sp>
        <p:nvSpPr>
          <p:cNvPr id="100" name="Source note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recreation of the microbiome–gut–brain axis figure (Microbial Biotechnology, 2024).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AXIS BREAKS DOWN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Trouble at one end shows up at the other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118872" cy="1691640"/>
          </a:xfrm>
          <a:prstGeom prst="rect">
            <a:avLst/>
          </a:prstGeom>
          <a:solidFill>
            <a:srgbClr val="2F7D7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'disorder of gut–brain interaction.' Doubles–triples anxiety (HR 2.89) &amp; depression (HR 2.71) risk — and vice versa. ~60% have visceral hypersensitivity.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783080"/>
            <a:ext cx="118872" cy="169164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IBD (Crohn's, colitis)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4652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disease ~2× anxiety (OR 2.5), 3× depression (OR 3.1) vs remission. Depression predicts more flares (RR 1.60) &amp; surgery (RR 1.63).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657600"/>
            <a:ext cx="118872" cy="1691640"/>
          </a:xfrm>
          <a:prstGeom prst="rect">
            <a:avLst/>
          </a:prstGeom>
          <a:solidFill>
            <a:srgbClr val="7A4B6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transdiagnostic signature: depleted butyrate-makers (Faecalibacterium, Coprococcus), enriched Eggerthella — shared across depression, bipolar, schizophrenia.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657600"/>
            <a:ext cx="118872" cy="1691640"/>
          </a:xfrm>
          <a:prstGeom prst="rect">
            <a:avLst/>
          </a:prstGeom>
          <a:solidFill>
            <a:srgbClr val="5B8A4F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Autism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4652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 issues in 47–80% of children. Transplanting ASD-donor microbes into germ-free mice induces autism-like behavior.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A2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CASE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Parkinson's may start in the gut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E7D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α-synuclein — the Parkinson's protein — shows up in gut nerves years before the brain; constipation often precedes the tremor by a decade. The 'body-first' idea: it begins in the gut and climbs the vagus, prion-style.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223760" y="1783080"/>
            <a:ext cx="4389120" cy="3657600"/>
          </a:xfrm>
          <a:prstGeom prst="roundRect">
            <a:avLst>
              <a:gd name="adj" fmla="val 2250"/>
            </a:avLst>
          </a:prstGeom>
          <a:solidFill>
            <a:srgbClr val="33302B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52360" y="1965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52360" y="24688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2C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2019: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7D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α-synuclein injected into the mouse gut marched to the brain — blocked by cutting the vagus.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52360" y="370332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2C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Registries: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7D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vagotomy decades earlier → ~41–47% lower PD risk (Swedish HR 0.59, Danish HR 0.53).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C9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most human gut–brain links are correlations. Animal 'cut-the-wire' studies are the strongest causal evidence — proving cause in people is hard.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Therapeutics — with the trial numbers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118872" cy="1691640"/>
          </a:xfrm>
          <a:prstGeom prst="rect">
            <a:avLst/>
          </a:prstGeom>
          <a:solidFill>
            <a:srgbClr val="2F7D7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Probiotics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meta (23 RCTs): depression SMD −0.96, anxiety SMD −0.59. But CANMAT rates them only cautious third-line — trials inconsistent.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783080"/>
            <a:ext cx="118872" cy="1691640"/>
          </a:xfrm>
          <a:prstGeom prst="rect">
            <a:avLst/>
          </a:prstGeom>
          <a:solidFill>
            <a:srgbClr val="7A4B6B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Vagus stimulation (VNS)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4652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(n=493) missed its primary endpoint but improved quality of life &amp; function; taVNS matched citalopram in one RCT.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657600"/>
            <a:ext cx="118872" cy="1691640"/>
          </a:xfrm>
          <a:prstGeom prst="rect">
            <a:avLst/>
          </a:prstGeom>
          <a:solidFill>
            <a:srgbClr val="5B8A4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 — the cleanest evidence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SMILES (2017): Mediterranean diet beat control, Cohen's d −1.16, remission 32% vs 8%, NNT 4.1.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657600"/>
            <a:ext cx="118872" cy="169164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Fecal transplant (FMT)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4652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meta (12 RCTs): depression SMD −1.21, stronger via GI delivery. Promising but no large RCTs yet.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PLOT TWIST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gut and your decisions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Dantas et al. (2022)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first placebo-controlled trial showing probiotics change economic decisions. Over 28 days the probiotic group became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risk-taking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patient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real-money games.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384048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i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of economics' most 'fixed' assumptions — risk appetite and patience — shifted from a change in gut bacteria.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583680" y="1783080"/>
            <a:ext cx="5029200" cy="1828800"/>
          </a:xfrm>
          <a:prstGeom prst="roundRect">
            <a:avLst>
              <a:gd name="adj" fmla="val 4500"/>
            </a:avLst>
          </a:prstGeom>
          <a:solidFill>
            <a:srgbClr val="FBF7F2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1228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5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12280" y="24231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Probiotic group took fewer risky gambles than placebo.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0" y="3794760"/>
            <a:ext cx="5029200" cy="1828800"/>
          </a:xfrm>
          <a:prstGeom prst="roundRect">
            <a:avLst>
              <a:gd name="adj" fmla="val 4500"/>
            </a:avLst>
          </a:prstGeom>
          <a:solidFill>
            <a:srgbClr val="FBF7F2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1228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12280" y="44348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chose more future-oriented options — waiting for the bigger later reward.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A2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280160"/>
            <a:ext cx="4572000" cy="4572000"/>
          </a:xfrm>
          <a:prstGeom prst="ellipse">
            <a:avLst/>
          </a:prstGeom>
          <a:solidFill>
            <a:srgbClr val="A8431F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 · THE SEQUEL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Ozempic and the gut–brain axis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8961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7D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GLP-1 is one of those gut hormones — released after you eat, it tells the brain you're full. Semaglutide (Ozempic / Wegovy) is a lab-made copy. Built for diabetes and weight, it's really a master key into the gut–brain reward system.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GLP-1S, TWO MODES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own hormone vs. the drug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023360"/>
                <a:gridCol w="4297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B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own GLP-1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6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drug (semaglutide)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65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5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Half-life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minutes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~5–7 days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5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Whispers to nearby vagus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Travels in blood + reaches brain directly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5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Brain entry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vagus &amp; brainstem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 'leaky' windows (CVOs)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5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the vagus?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for quick effects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works without it long-term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5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Regions reached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Mostly local brainstem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Brainstem, hypothalamus, reward &amp; emotion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5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 levels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post-meal bump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Steady, far above natural levels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Recreation of the OpenEvidence comparison table.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DRUG GETS 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skips the brain's bouncer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669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Semaglutide barely crosses the blood–brain barrier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(brain:plasma &lt;0.01). It slips in through 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F5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circumventricular organs (CVOs)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area postrema &amp; median eminence — where the barrier is deliberately leaky. With a 5–7 day half-life it parks there at supraphysiological levels. Its energy effects need Adcyap1+ neurons in the area postrema/NTS.</a:t>
            </a:r>
            <a:endParaRPr lang="en-US" sz="1600" dirty="0"/>
          </a:p>
        </p:txBody>
      </p:sp>
      <p:sp>
        <p:nvSpPr>
          <p:cNvPr id="30" name="Diagram panel"/>
          <p:cNvSpPr/>
          <p:nvPr/>
        </p:nvSpPr>
        <p:spPr>
          <a:xfrm>
            <a:off x="6583680" y="1783080"/>
            <a:ext cx="5029200" cy="393192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E7DDD1"/>
            </a:solidFill>
            <a:prstDash val="solid"/>
          </a:ln>
        </p:spPr>
      </p:sp>
      <p:sp>
        <p:nvSpPr>
          <p:cNvPr id="31" name="Bloodstream"/>
          <p:cNvSpPr/>
          <p:nvPr/>
        </p:nvSpPr>
        <p:spPr>
          <a:xfrm>
            <a:off x="6900000" y="4550000"/>
            <a:ext cx="4200000" cy="0"/>
          </a:xfrm>
          <a:prstGeom prst="line">
            <a:avLst/>
          </a:prstGeom>
          <a:noFill/>
          <a:ln w="114300">
            <a:solidFill>
              <a:srgbClr val="2F7D77">
                <a:alpha val="30000"/>
              </a:srgbClr>
            </a:solidFill>
            <a:prstDash val="solid"/>
          </a:ln>
        </p:spPr>
      </p:sp>
      <p:sp>
        <p:nvSpPr>
          <p:cNvPr id="32" name="Bloodstream label"/>
          <p:cNvSpPr/>
          <p:nvPr/>
        </p:nvSpPr>
        <p:spPr>
          <a:xfrm>
            <a:off x="7500000" y="4980000"/>
            <a:ext cx="33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bloodstream carrying semaglutide</a:t>
            </a:r>
            <a:endParaRPr lang="en-US" sz="900" dirty="0"/>
          </a:p>
        </p:txBody>
      </p:sp>
      <p:sp>
        <p:nvSpPr>
          <p:cNvPr id="33" name="Drug dot"/>
          <p:cNvSpPr/>
          <p:nvPr/>
        </p:nvSpPr>
        <p:spPr>
          <a:xfrm>
            <a:off x="7300000" y="4450000"/>
            <a:ext cx="140000" cy="140000"/>
          </a:xfrm>
          <a:prstGeom prst="ellipse">
            <a:avLst/>
          </a:prstGeom>
          <a:solidFill>
            <a:srgbClr val="D2603A"/>
          </a:solidFill>
          <a:ln/>
        </p:spPr>
      </p:sp>
      <p:sp>
        <p:nvSpPr>
          <p:cNvPr id="34" name="Drug dot"/>
          <p:cNvSpPr/>
          <p:nvPr/>
        </p:nvSpPr>
        <p:spPr>
          <a:xfrm>
            <a:off x="7900000" y="4580000"/>
            <a:ext cx="140000" cy="140000"/>
          </a:xfrm>
          <a:prstGeom prst="ellipse">
            <a:avLst/>
          </a:prstGeom>
          <a:solidFill>
            <a:srgbClr val="D2603A"/>
          </a:solidFill>
          <a:ln/>
        </p:spPr>
      </p:sp>
      <p:sp>
        <p:nvSpPr>
          <p:cNvPr id="35" name="Drug dot"/>
          <p:cNvSpPr/>
          <p:nvPr/>
        </p:nvSpPr>
        <p:spPr>
          <a:xfrm>
            <a:off x="10100000" y="4430000"/>
            <a:ext cx="140000" cy="140000"/>
          </a:xfrm>
          <a:prstGeom prst="ellipse">
            <a:avLst/>
          </a:prstGeom>
          <a:solidFill>
            <a:srgbClr val="D2603A"/>
          </a:solidFill>
          <a:ln/>
        </p:spPr>
      </p:sp>
      <p:sp>
        <p:nvSpPr>
          <p:cNvPr id="36" name="Drug dot"/>
          <p:cNvSpPr/>
          <p:nvPr/>
        </p:nvSpPr>
        <p:spPr>
          <a:xfrm>
            <a:off x="10700000" y="4570000"/>
            <a:ext cx="140000" cy="140000"/>
          </a:xfrm>
          <a:prstGeom prst="ellipse">
            <a:avLst/>
          </a:prstGeom>
          <a:solidFill>
            <a:srgbClr val="D2603A"/>
          </a:solidFill>
          <a:ln/>
        </p:spPr>
      </p:sp>
      <p:sp>
        <p:nvSpPr>
          <p:cNvPr id="37" name="BBB wall"/>
          <p:cNvSpPr/>
          <p:nvPr/>
        </p:nvSpPr>
        <p:spPr>
          <a:xfrm>
            <a:off x="7000000" y="3300000"/>
            <a:ext cx="4000000" cy="0"/>
          </a:xfrm>
          <a:prstGeom prst="line">
            <a:avLst/>
          </a:prstGeom>
          <a:noFill/>
          <a:ln w="88900">
            <a:solidFill>
              <a:srgbClr val="6B625A"/>
            </a:solidFill>
            <a:prstDash val="solid"/>
          </a:ln>
        </p:spPr>
      </p:sp>
      <p:sp>
        <p:nvSpPr>
          <p:cNvPr id="38" name="BBB label"/>
          <p:cNvSpPr/>
          <p:nvPr/>
        </p:nvSpPr>
        <p:spPr>
          <a:xfrm>
            <a:off x="7350000" y="2930000"/>
            <a:ext cx="33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blood-brain barrier: mostly sealed</a:t>
            </a:r>
            <a:endParaRPr lang="en-US" sz="1000" dirty="0"/>
          </a:p>
        </p:txBody>
      </p:sp>
      <p:sp>
        <p:nvSpPr>
          <p:cNvPr id="39" name="CVO window left"/>
          <p:cNvSpPr/>
          <p:nvPr/>
        </p:nvSpPr>
        <p:spPr>
          <a:xfrm>
            <a:off x="8660000" y="3160000"/>
            <a:ext cx="340000" cy="300000"/>
          </a:xfrm>
          <a:prstGeom prst="roundRect">
            <a:avLst/>
          </a:prstGeom>
          <a:solidFill>
            <a:srgbClr val="D9A441"/>
          </a:solidFill>
          <a:ln w="19050">
            <a:solidFill>
              <a:srgbClr val="A8431F"/>
            </a:solidFill>
            <a:prstDash val="solid"/>
          </a:ln>
        </p:spPr>
      </p:sp>
      <p:sp>
        <p:nvSpPr>
          <p:cNvPr id="40" name="CVO window right"/>
          <p:cNvSpPr/>
          <p:nvPr/>
        </p:nvSpPr>
        <p:spPr>
          <a:xfrm>
            <a:off x="9240000" y="3160000"/>
            <a:ext cx="340000" cy="300000"/>
          </a:xfrm>
          <a:prstGeom prst="roundRect">
            <a:avLst/>
          </a:prstGeom>
          <a:solidFill>
            <a:srgbClr val="D9A441"/>
          </a:solidFill>
          <a:ln w="19050">
            <a:solidFill>
              <a:srgbClr val="A8431F"/>
            </a:solidFill>
            <a:prstDash val="solid"/>
          </a:ln>
        </p:spPr>
      </p:sp>
      <p:sp>
        <p:nvSpPr>
          <p:cNvPr id="41" name="CVO label"/>
          <p:cNvSpPr/>
          <p:nvPr/>
        </p:nvSpPr>
        <p:spPr>
          <a:xfrm>
            <a:off x="8270000" y="3620000"/>
            <a:ext cx="17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leaky CVO windows</a:t>
            </a:r>
            <a:endParaRPr lang="en-US" sz="1000" dirty="0"/>
          </a:p>
        </p:txBody>
      </p:sp>
      <p:sp>
        <p:nvSpPr>
          <p:cNvPr id="42" name="Drug to left window"/>
          <p:cNvSpPr/>
          <p:nvPr/>
        </p:nvSpPr>
        <p:spPr>
          <a:xfrm>
            <a:off x="7850000" y="4510000"/>
            <a:ext cx="960000" cy="-980000"/>
          </a:xfrm>
          <a:prstGeom prst="line">
            <a:avLst/>
          </a:prstGeom>
          <a:noFill/>
          <a:ln w="25400">
            <a:solidFill>
              <a:srgbClr val="D2603A"/>
            </a:solidFill>
            <a:prstDash val="solid"/>
            <a:headEnd type="triangle"/>
          </a:ln>
        </p:spPr>
      </p:sp>
      <p:sp>
        <p:nvSpPr>
          <p:cNvPr id="43" name="Drug to right window"/>
          <p:cNvSpPr/>
          <p:nvPr/>
        </p:nvSpPr>
        <p:spPr>
          <a:xfrm>
            <a:off x="10200000" y="4460000"/>
            <a:ext cx="-760000" cy="-890000"/>
          </a:xfrm>
          <a:prstGeom prst="line">
            <a:avLst/>
          </a:prstGeom>
          <a:noFill/>
          <a:ln w="25400">
            <a:solidFill>
              <a:srgbClr val="D2603A"/>
            </a:solidFill>
            <a:prstDash val="solid"/>
            <a:headEnd type="triangle"/>
          </a:ln>
        </p:spPr>
      </p:sp>
      <p:sp>
        <p:nvSpPr>
          <p:cNvPr id="44" name="Brain"/>
          <p:cNvSpPr/>
          <p:nvPr/>
        </p:nvSpPr>
        <p:spPr>
          <a:xfrm>
            <a:off x="8280000" y="2050000"/>
            <a:ext cx="1150000" cy="820000"/>
          </a:xfrm>
          <a:prstGeom prst="cloud">
            <a:avLst/>
          </a:prstGeom>
          <a:solidFill>
            <a:srgbClr val="F7E3DA"/>
          </a:solidFill>
          <a:ln w="19050">
            <a:solidFill>
              <a:srgbClr val="A8431F"/>
            </a:solidFill>
            <a:prstDash val="solid"/>
          </a:ln>
        </p:spPr>
      </p:sp>
      <p:sp>
        <p:nvSpPr>
          <p:cNvPr id="45" name="Brain label"/>
          <p:cNvSpPr/>
          <p:nvPr/>
        </p:nvSpPr>
        <p:spPr>
          <a:xfrm>
            <a:off x="8280000" y="2320000"/>
            <a:ext cx="115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</a:t>
            </a:r>
            <a:endParaRPr lang="en-US" sz="1050" dirty="0"/>
          </a:p>
        </p:txBody>
      </p:sp>
      <p:sp>
        <p:nvSpPr>
          <p:cNvPr id="46" name="Targets"/>
          <p:cNvSpPr/>
          <p:nvPr/>
        </p:nvSpPr>
        <p:spPr>
          <a:xfrm>
            <a:off x="9800000" y="2150000"/>
            <a:ext cx="1200000" cy="5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5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appetite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1F5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1F5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TO CRAVING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Turning down the dopamine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reward hub, GLP-1 receptors sit mostly on the BRAKES (VTA GABA neurons). The drug presses them, dopamine drops in the nucleus accumbens, and the pull of whatever you craved fades.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48640" y="4937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 (Zhu 2025): in mice, dopamine activity &amp; appetite recovered during repeated dosing — possible tolerance.</a:t>
            </a:r>
            <a:endParaRPr lang="en-US" sz="1400" dirty="0"/>
          </a:p>
        </p:txBody>
      </p:sp>
      <p:sp>
        <p:nvSpPr>
          <p:cNvPr id="30" name="Diagram panel"/>
          <p:cNvSpPr/>
          <p:nvPr/>
        </p:nvSpPr>
        <p:spPr>
          <a:xfrm>
            <a:off x="548640" y="2750000"/>
            <a:ext cx="10972800" cy="188000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E7DDD1"/>
            </a:solidFill>
            <a:prstDash val="solid"/>
          </a:ln>
        </p:spPr>
      </p:sp>
      <p:sp>
        <p:nvSpPr>
          <p:cNvPr id="31" name="VTA hub"/>
          <p:cNvSpPr/>
          <p:nvPr/>
        </p:nvSpPr>
        <p:spPr>
          <a:xfrm>
            <a:off x="2970000" y="2920000"/>
            <a:ext cx="4300000" cy="1180000"/>
          </a:xfrm>
          <a:prstGeom prst="ellipse">
            <a:avLst/>
          </a:prstGeom>
          <a:solidFill>
            <a:srgbClr val="E3EFEE"/>
          </a:solidFill>
          <a:ln w="12700">
            <a:solidFill>
              <a:srgbClr val="1F5651"/>
            </a:solidFill>
            <a:prstDash val="solid"/>
          </a:ln>
        </p:spPr>
      </p:sp>
      <p:sp>
        <p:nvSpPr>
          <p:cNvPr id="32" name="VTA label"/>
          <p:cNvSpPr/>
          <p:nvPr/>
        </p:nvSpPr>
        <p:spPr>
          <a:xfrm>
            <a:off x="4410000" y="3000000"/>
            <a:ext cx="15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5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VTA reward hub</a:t>
            </a:r>
            <a:endParaRPr lang="en-US" sz="1050" dirty="0"/>
          </a:p>
        </p:txBody>
      </p:sp>
      <p:sp>
        <p:nvSpPr>
          <p:cNvPr id="33" name="Drug"/>
          <p:cNvSpPr/>
          <p:nvPr/>
        </p:nvSpPr>
        <p:spPr>
          <a:xfrm>
            <a:off x="980000" y="3350000"/>
            <a:ext cx="650000" cy="650000"/>
          </a:xfrm>
          <a:prstGeom prst="ellipse">
            <a:avLst/>
          </a:prstGeom>
          <a:solidFill>
            <a:srgbClr val="D2603A"/>
          </a:solidFill>
          <a:ln w="19050">
            <a:solidFill>
              <a:srgbClr val="A8431F"/>
            </a:solidFill>
            <a:prstDash val="solid"/>
          </a:ln>
        </p:spPr>
      </p:sp>
      <p:sp>
        <p:nvSpPr>
          <p:cNvPr id="34" name="Drug label"/>
          <p:cNvSpPr/>
          <p:nvPr/>
        </p:nvSpPr>
        <p:spPr>
          <a:xfrm>
            <a:off x="980000" y="3460000"/>
            <a:ext cx="65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GLP-1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</a:t>
            </a:r>
            <a:endParaRPr lang="en-US" sz="900" dirty="0"/>
          </a:p>
        </p:txBody>
      </p:sp>
      <p:sp>
        <p:nvSpPr>
          <p:cNvPr id="35" name="Drug to GABA"/>
          <p:cNvSpPr/>
          <p:nvPr/>
        </p:nvSpPr>
        <p:spPr>
          <a:xfrm>
            <a:off x="1630000" y="3670000"/>
            <a:ext cx="1220000" cy="-240000"/>
          </a:xfrm>
          <a:prstGeom prst="line">
            <a:avLst/>
          </a:prstGeom>
          <a:noFill/>
          <a:ln w="25400">
            <a:solidFill>
              <a:srgbClr val="D2603A"/>
            </a:solidFill>
            <a:prstDash val="dash"/>
            <a:headEnd type="triangle"/>
          </a:ln>
        </p:spPr>
      </p:sp>
      <p:sp>
        <p:nvSpPr>
          <p:cNvPr id="36" name="GABA neuron"/>
          <p:cNvSpPr/>
          <p:nvPr/>
        </p:nvSpPr>
        <p:spPr>
          <a:xfrm>
            <a:off x="2860000" y="3290000"/>
            <a:ext cx="660000" cy="660000"/>
          </a:xfrm>
          <a:prstGeom prst="ellipse">
            <a:avLst/>
          </a:prstGeom>
          <a:solidFill>
            <a:srgbClr val="7A4B6B"/>
          </a:solidFill>
          <a:ln w="12700">
            <a:solidFill>
              <a:srgbClr val="201B17"/>
            </a:solidFill>
            <a:prstDash val="solid"/>
          </a:ln>
        </p:spPr>
      </p:sp>
      <p:sp>
        <p:nvSpPr>
          <p:cNvPr id="37" name="GABA label"/>
          <p:cNvSpPr/>
          <p:nvPr/>
        </p:nvSpPr>
        <p:spPr>
          <a:xfrm>
            <a:off x="2860000" y="3450000"/>
            <a:ext cx="66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</a:t>
            </a:r>
            <a:endParaRPr lang="en-US" sz="950" dirty="0"/>
          </a:p>
        </p:txBody>
      </p:sp>
      <p:sp>
        <p:nvSpPr>
          <p:cNvPr id="38" name="Brakes label"/>
          <p:cNvSpPr/>
          <p:nvPr/>
        </p:nvSpPr>
        <p:spPr>
          <a:xfrm>
            <a:off x="2700000" y="4000000"/>
            <a:ext cx="10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brakes ON</a:t>
            </a:r>
            <a:endParaRPr lang="en-US" sz="950" dirty="0"/>
          </a:p>
        </p:txBody>
      </p:sp>
      <p:sp>
        <p:nvSpPr>
          <p:cNvPr id="39" name="Dopamine neuron"/>
          <p:cNvSpPr/>
          <p:nvPr/>
        </p:nvSpPr>
        <p:spPr>
          <a:xfrm>
            <a:off x="5050000" y="3520000"/>
            <a:ext cx="760000" cy="760000"/>
          </a:xfrm>
          <a:prstGeom prst="ellipse">
            <a:avLst/>
          </a:prstGeom>
          <a:solidFill>
            <a:srgbClr val="2F7D77"/>
          </a:solidFill>
          <a:ln w="19050">
            <a:solidFill>
              <a:srgbClr val="1F5651"/>
            </a:solidFill>
            <a:prstDash val="solid"/>
          </a:ln>
        </p:spPr>
      </p:sp>
      <p:sp>
        <p:nvSpPr>
          <p:cNvPr id="40" name="Dopamine neuron label"/>
          <p:cNvSpPr/>
          <p:nvPr/>
        </p:nvSpPr>
        <p:spPr>
          <a:xfrm>
            <a:off x="5050000" y="3640000"/>
            <a:ext cx="76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dopamine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</a:t>
            </a:r>
            <a:endParaRPr lang="en-US" sz="850" dirty="0"/>
          </a:p>
        </p:txBody>
      </p:sp>
      <p:sp>
        <p:nvSpPr>
          <p:cNvPr id="41" name="GABA inhibition"/>
          <p:cNvSpPr/>
          <p:nvPr/>
        </p:nvSpPr>
        <p:spPr>
          <a:xfrm>
            <a:off x="3520000" y="3620000"/>
            <a:ext cx="1500000" cy="250000"/>
          </a:xfrm>
          <a:prstGeom prst="line">
            <a:avLst/>
          </a:prstGeom>
          <a:noFill/>
          <a:ln w="38100">
            <a:solidFill>
              <a:srgbClr val="7A4B6B"/>
            </a:solidFill>
            <a:prstDash val="solid"/>
            <a:headEnd type="triangle"/>
          </a:ln>
        </p:spPr>
      </p:sp>
      <p:sp>
        <p:nvSpPr>
          <p:cNvPr id="42" name="Dopamine down"/>
          <p:cNvSpPr/>
          <p:nvPr/>
        </p:nvSpPr>
        <p:spPr>
          <a:xfrm>
            <a:off x="5760000" y="3200000"/>
            <a:ext cx="12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5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dopamine ↓</a:t>
            </a:r>
            <a:endParaRPr lang="en-US" sz="1000" dirty="0"/>
          </a:p>
        </p:txBody>
      </p:sp>
      <p:sp>
        <p:nvSpPr>
          <p:cNvPr id="43" name="Dopamine projection"/>
          <p:cNvSpPr/>
          <p:nvPr/>
        </p:nvSpPr>
        <p:spPr>
          <a:xfrm>
            <a:off x="5800000" y="3710000"/>
            <a:ext cx="3450000" cy="-100000"/>
          </a:xfrm>
          <a:prstGeom prst="line">
            <a:avLst/>
          </a:prstGeom>
          <a:noFill/>
          <a:ln w="50800">
            <a:solidFill>
              <a:srgbClr val="2F7D77"/>
            </a:solidFill>
            <a:prstDash val="solid"/>
            <a:headEnd type="triangle"/>
          </a:ln>
        </p:spPr>
      </p:sp>
      <p:sp>
        <p:nvSpPr>
          <p:cNvPr id="44" name="Reduced projection"/>
          <p:cNvSpPr/>
          <p:nvPr/>
        </p:nvSpPr>
        <p:spPr>
          <a:xfrm>
            <a:off x="5800000" y="3940000"/>
            <a:ext cx="3380000" cy="280000"/>
          </a:xfrm>
          <a:prstGeom prst="line">
            <a:avLst/>
          </a:prstGeom>
          <a:noFill/>
          <a:ln w="22860">
            <a:solidFill>
              <a:srgbClr val="2F7D77">
                <a:alpha val="52000"/>
              </a:srgbClr>
            </a:solidFill>
            <a:prstDash val="dash"/>
          </a:ln>
        </p:spPr>
      </p:sp>
      <p:sp>
        <p:nvSpPr>
          <p:cNvPr id="45" name="NAc"/>
          <p:cNvSpPr/>
          <p:nvPr/>
        </p:nvSpPr>
        <p:spPr>
          <a:xfrm>
            <a:off x="9480000" y="3290000"/>
            <a:ext cx="1600000" cy="900000"/>
          </a:xfrm>
          <a:prstGeom prst="ellipse">
            <a:avLst/>
          </a:prstGeom>
          <a:solidFill>
            <a:srgbClr val="5B8A4F">
              <a:alpha val="18000"/>
            </a:srgbClr>
          </a:solidFill>
          <a:ln w="19050">
            <a:solidFill>
              <a:srgbClr val="5B8A4F"/>
            </a:solidFill>
            <a:prstDash val="solid"/>
          </a:ln>
        </p:spPr>
      </p:sp>
      <p:sp>
        <p:nvSpPr>
          <p:cNvPr id="46" name="NAc label"/>
          <p:cNvSpPr/>
          <p:nvPr/>
        </p:nvSpPr>
        <p:spPr>
          <a:xfrm>
            <a:off x="9480000" y="3440000"/>
            <a:ext cx="16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8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nucleus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5B8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accumbens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5B8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craving ↓</a:t>
            </a:r>
            <a:endParaRPr lang="en-US" sz="950" dirty="0"/>
          </a:p>
        </p:txBody>
      </p:sp>
      <p:sp>
        <p:nvSpPr>
          <p:cNvPr id="47" name="Legend rail"/>
          <p:cNvSpPr/>
          <p:nvPr/>
        </p:nvSpPr>
        <p:spPr>
          <a:xfrm>
            <a:off x="1280000" y="4680000"/>
            <a:ext cx="9000000" cy="300000"/>
          </a:xfrm>
          <a:prstGeom prst="roundRect">
            <a:avLst/>
          </a:prstGeom>
          <a:solidFill>
            <a:srgbClr val="E7DDD1">
              <a:alpha val="62000"/>
            </a:srgbClr>
          </a:solidFill>
          <a:ln/>
        </p:spPr>
      </p:sp>
      <p:sp>
        <p:nvSpPr>
          <p:cNvPr id="48" name="Legend"/>
          <p:cNvSpPr/>
          <p:nvPr/>
        </p:nvSpPr>
        <p:spPr>
          <a:xfrm>
            <a:off x="1400000" y="4740000"/>
            <a:ext cx="875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drug binds receptor     2 GABA brakes ON     3 dopamine ↓     4 craving ↓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SHOWS UP IN PEOPLE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Promising, mixed, and one big surprise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118872" cy="169164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— strongest signal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Klausen (Lancet 2026): semaglutide cut heavy-drinking days −13.7pp, NNT 4.3 — beating naltrexone/acamprosate (NNT ≥7). Hendershot 2025 agrees.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783080"/>
            <a:ext cx="118872" cy="1691640"/>
          </a:xfrm>
          <a:prstGeom prst="rect">
            <a:avLst/>
          </a:prstGeom>
          <a:solidFill>
            <a:srgbClr val="2F7D77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habits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4652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use of nicotine (HR 0.80), cocaine (0.80), opioids (0.75), cannabis (0.86). DPP-4 inhibitors don't work — needs drug-level GLP-1R activation.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657600"/>
            <a:ext cx="118872" cy="1691640"/>
          </a:xfrm>
          <a:prstGeom prst="rect">
            <a:avLst/>
          </a:prstGeom>
          <a:solidFill>
            <a:srgbClr val="7A4B6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Swedish cohort: 42% lower risk of worsening mental illness (aHR 0.62) — agent-specific (not exenatide/dulaglutide).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657600"/>
            <a:ext cx="118872" cy="1691640"/>
          </a:xfrm>
          <a:prstGeom prst="rect">
            <a:avLst/>
          </a:prstGeom>
          <a:solidFill>
            <a:srgbClr val="5B8A4F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Suicidality — resolved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4652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&amp; EMA: no causal link (144-RCT meta RR 0.76). The signal was media-driven reporting bias after late 2023.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ITSELF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Neurodegeneration: promise, then phase-3 reality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Epidemiology dazzled — GLP-1 RAs tied to 45% lower dementia (OR 0.55). Then the trials landed:</a:t>
            </a:r>
            <a:endParaRPr lang="en-US" sz="1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743200"/>
                <a:gridCol w="1280160"/>
                <a:gridCol w="1463040"/>
                <a:gridCol w="2286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B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6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6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6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65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5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Exenatide-PD (Athauda 2017)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Exenatide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wk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5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LIXIPARK (Meissner 2024)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Lixisenatide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 (borderline)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5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Exenatide-PD3 (2025)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Exenatide ph.3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 wk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(definitive)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5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EVOKE (Alzheimer's)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Oral semaglutide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Missed cognitive endpoint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75488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CF4E3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48463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lesson:  </a:t>
            </a:r>
            <a:pPr indent="0" marL="0">
              <a:buNone/>
            </a:pPr>
            <a:r>
              <a:rPr lang="en-US" sz="15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observational hope didn't survive the rigorous trials. Correlation isn't cure — a perfect teaching moment.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A2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CIRCLE CLOSES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gut-hormone drug shifts how we decide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F2C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Gill et al. (JAMA Psychiatry 2026):  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E7D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16 weeks of oral semaglutide, MDD patients became more willing to work for rewards — parameter k (effort cost) fell (β −1.737, P=.03) — </a:t>
            </a:r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F2C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of any change in mood.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493776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Probiotics nudged risk &amp; patience; semaglutide nudged effort. Same reward dashboard, same hidden hand reaching for it from the gut.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NUTSHELL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Takeaways for the dinner 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118872" cy="169164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You have two brains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~500M gut neurons, 95% of serotonin — talking to your head constantly, mostly upward.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783080"/>
            <a:ext cx="118872" cy="1691640"/>
          </a:xfrm>
          <a:prstGeom prst="rect">
            <a:avLst/>
          </a:prstGeom>
          <a:solidFill>
            <a:srgbClr val="2F7D77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Microbes are messengers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4652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→ calming fatty acids; the right bugs make neurotransmitters. Diet tunes the chemistry.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657600"/>
            <a:ext cx="118872" cy="1691640"/>
          </a:xfrm>
          <a:prstGeom prst="rect">
            <a:avLst/>
          </a:prstGeom>
          <a:solidFill>
            <a:srgbClr val="7A4B6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Breakdowns go both ways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 → depression → Parkinson's — gut and brain rise and fall together; sometimes the gut leads.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657600"/>
            <a:ext cx="118872" cy="1691640"/>
          </a:xfrm>
          <a:prstGeom prst="rect">
            <a:avLst/>
          </a:prstGeom>
          <a:solidFill>
            <a:srgbClr val="5B8A4F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It reaches your choices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4652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Probiotics &amp; GLP-1 drugs both nudge the reward circuit — risk, patience, craving, effort.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A2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F5651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CAN A FAMILY DO?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low-risk levers all point the same way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68680" y="2761488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2651760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D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 fiber &amp; fermented foods — feed the good bugs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3566160"/>
            <a:ext cx="384048" cy="384048"/>
          </a:xfrm>
          <a:prstGeom prst="ellipse">
            <a:avLst/>
          </a:prstGeom>
          <a:solidFill>
            <a:srgbClr val="2F7D77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3456432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D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Mediterranean — the one diet with trial evidence for mood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8680" y="4370832"/>
            <a:ext cx="384048" cy="384048"/>
          </a:xfrm>
          <a:prstGeom prst="ellipse">
            <a:avLst/>
          </a:prstGeom>
          <a:solidFill>
            <a:srgbClr val="7A4B6B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4261104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D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stress &amp; sleep — the stress line is real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68680" y="5175504"/>
            <a:ext cx="384048" cy="384048"/>
          </a:xfrm>
          <a:prstGeom prst="ellipse">
            <a:avLst/>
          </a:prstGeom>
          <a:solidFill>
            <a:srgbClr val="D2603A"/>
          </a:solidFill>
          <a:ln/>
        </p:spPr>
      </p:sp>
      <p:sp>
        <p:nvSpPr>
          <p:cNvPr id="12" name="Text 10"/>
          <p:cNvSpPr/>
          <p:nvPr/>
        </p:nvSpPr>
        <p:spPr>
          <a:xfrm>
            <a:off x="1554480" y="5065776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D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your body — vagal tone and microbes both benefit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59436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gut isn't just where food goes — it's a sensing, chemical, decision-shaping organ in lifelong conversation with your brain, and medicine is only now learning to listen in.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Gut-Brain Axis — Presentable with Depth</dc:title>
  <dc:subject>PptxGenJS Presentation</dc:subject>
  <dc:creator>Cowork</dc:creator>
  <cp:lastModifiedBy>Cowork</cp:lastModifiedBy>
  <cp:revision>1</cp:revision>
  <dcterms:created xsi:type="dcterms:W3CDTF">2026-06-09T21:42:54Z</dcterms:created>
  <dcterms:modified xsi:type="dcterms:W3CDTF">2026-06-09T21:42:54Z</dcterms:modified>
</cp:coreProperties>
</file>